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rimson Pro Bold" charset="1" panose="00000000000000000000"/>
      <p:regular r:id="rId19"/>
    </p:embeddedFont>
    <p:embeddedFont>
      <p:font typeface="Heebo" charset="1" panose="00000500000000000000"/>
      <p:regular r:id="rId20"/>
    </p:embeddedFont>
    <p:embeddedFont>
      <p:font typeface="Heebo Bold" charset="1" panose="00000800000000000000"/>
      <p:regular r:id="rId21"/>
    </p:embeddedFont>
    <p:embeddedFont>
      <p:font typeface="Arimo" charset="1" panose="020B06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086395"/>
            <a:ext cx="16303523" cy="181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Economics of the Electric Transition: A 5-Year TCO Analysis for Delhi (2026)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5387283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Honda Activa 6G vs. Ather 450X (2.9 kWh) · Scenarios: 10 · 30 · 50 km/day · Delhi, April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6159846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Submitted by:</a:t>
            </a: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Purnendu Kumar (24/BBA/43) · Rahul Roushan (24/BBA/44) · Shresth Saran (24/BBA/52) · Mayank Aggarwal (24/BBA/37)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695" y="821827"/>
            <a:ext cx="1547660" cy="478041"/>
            <a:chOff x="0" y="0"/>
            <a:chExt cx="2063547" cy="6373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3496" cy="637287"/>
            </a:xfrm>
            <a:custGeom>
              <a:avLst/>
              <a:gdLst/>
              <a:ahLst/>
              <a:cxnLst/>
              <a:rect r="r" b="b" t="t" l="l"/>
              <a:pathLst>
                <a:path h="637287" w="2063496">
                  <a:moveTo>
                    <a:pt x="0" y="41783"/>
                  </a:moveTo>
                  <a:cubicBezTo>
                    <a:pt x="0" y="18669"/>
                    <a:pt x="18669" y="0"/>
                    <a:pt x="41783" y="0"/>
                  </a:cubicBezTo>
                  <a:lnTo>
                    <a:pt x="2021713" y="0"/>
                  </a:lnTo>
                  <a:cubicBezTo>
                    <a:pt x="2044827" y="0"/>
                    <a:pt x="2063496" y="18669"/>
                    <a:pt x="2063496" y="41783"/>
                  </a:cubicBezTo>
                  <a:lnTo>
                    <a:pt x="2063496" y="595503"/>
                  </a:lnTo>
                  <a:cubicBezTo>
                    <a:pt x="2063496" y="618617"/>
                    <a:pt x="2044827" y="637286"/>
                    <a:pt x="2021713" y="637286"/>
                  </a:cubicBezTo>
                  <a:lnTo>
                    <a:pt x="41783" y="637286"/>
                  </a:lnTo>
                  <a:cubicBezTo>
                    <a:pt x="18669" y="637413"/>
                    <a:pt x="0" y="618617"/>
                    <a:pt x="0" y="595503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71410" y="852487"/>
            <a:ext cx="1234230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625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KEY FINDING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695" y="1367580"/>
            <a:ext cx="16458609" cy="166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Ather 450X Saves Up to ₹1,41,248 Over 5 Years — But Only If You Ride Enough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695" y="3314852"/>
            <a:ext cx="16458609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Financial advantage scales directly with daily usage. The EV becomes cheaper from Year 2 for average commuters and Year 1.5 for heavy users.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695" y="4710408"/>
            <a:ext cx="8078686" cy="74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6749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₹72,212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20358" y="5750871"/>
            <a:ext cx="3267227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Average Commuter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695" y="6246466"/>
            <a:ext cx="8078686" cy="4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30 km/day · Break-even ~Year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94466" y="4710408"/>
            <a:ext cx="8078838" cy="74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6749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₹1,41,248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00272" y="5750871"/>
            <a:ext cx="3267227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Heavy Commuter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94466" y="6246466"/>
            <a:ext cx="8078838" cy="4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50 km/day · Break-even ~Year 1.5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695" y="7451227"/>
            <a:ext cx="8078686" cy="74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6749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₹3,177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20358" y="8491690"/>
            <a:ext cx="3267227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Light Commuter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695" y="8987285"/>
            <a:ext cx="8078686" cy="4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10 km/day · Break-even ~Year 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94466" y="7451227"/>
            <a:ext cx="8078838" cy="74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6749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₹38,341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00272" y="8491690"/>
            <a:ext cx="3267227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EV Upfront Premium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94466" y="8987285"/>
            <a:ext cx="8078838" cy="4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20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After ₹32,848 in combined subsidies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1611516"/>
            <a:ext cx="1375772" cy="561384"/>
            <a:chOff x="0" y="0"/>
            <a:chExt cx="1834363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4388" cy="748538"/>
            </a:xfrm>
            <a:custGeom>
              <a:avLst/>
              <a:gdLst/>
              <a:ahLst/>
              <a:cxnLst/>
              <a:rect r="r" b="b" t="t" l="l"/>
              <a:pathLst>
                <a:path h="748538" w="1834388">
                  <a:moveTo>
                    <a:pt x="0" y="51689"/>
                  </a:moveTo>
                  <a:cubicBezTo>
                    <a:pt x="0" y="23114"/>
                    <a:pt x="23368" y="0"/>
                    <a:pt x="52197" y="0"/>
                  </a:cubicBezTo>
                  <a:lnTo>
                    <a:pt x="1782191" y="0"/>
                  </a:lnTo>
                  <a:lnTo>
                    <a:pt x="1782191" y="6350"/>
                  </a:lnTo>
                  <a:lnTo>
                    <a:pt x="1782191" y="0"/>
                  </a:lnTo>
                  <a:cubicBezTo>
                    <a:pt x="1810893" y="0"/>
                    <a:pt x="1834388" y="23114"/>
                    <a:pt x="1834388" y="51689"/>
                  </a:cubicBezTo>
                  <a:lnTo>
                    <a:pt x="1828038" y="51689"/>
                  </a:lnTo>
                  <a:lnTo>
                    <a:pt x="1834388" y="51689"/>
                  </a:lnTo>
                  <a:lnTo>
                    <a:pt x="1834388" y="696849"/>
                  </a:lnTo>
                  <a:lnTo>
                    <a:pt x="1828038" y="696849"/>
                  </a:lnTo>
                  <a:lnTo>
                    <a:pt x="1834388" y="696849"/>
                  </a:lnTo>
                  <a:cubicBezTo>
                    <a:pt x="1834388" y="725424"/>
                    <a:pt x="1811020" y="748538"/>
                    <a:pt x="1782191" y="748538"/>
                  </a:cubicBezTo>
                  <a:lnTo>
                    <a:pt x="1782191" y="742188"/>
                  </a:lnTo>
                  <a:lnTo>
                    <a:pt x="1782191" y="748538"/>
                  </a:lnTo>
                  <a:lnTo>
                    <a:pt x="52197" y="748538"/>
                  </a:lnTo>
                  <a:lnTo>
                    <a:pt x="52197" y="742188"/>
                  </a:lnTo>
                  <a:lnTo>
                    <a:pt x="52197" y="748538"/>
                  </a:lnTo>
                  <a:cubicBezTo>
                    <a:pt x="23368" y="748538"/>
                    <a:pt x="0" y="725424"/>
                    <a:pt x="0" y="696849"/>
                  </a:cubicBezTo>
                  <a:lnTo>
                    <a:pt x="0" y="51689"/>
                  </a:lnTo>
                  <a:lnTo>
                    <a:pt x="6350" y="51689"/>
                  </a:lnTo>
                  <a:lnTo>
                    <a:pt x="0" y="51689"/>
                  </a:lnTo>
                  <a:moveTo>
                    <a:pt x="12700" y="51689"/>
                  </a:moveTo>
                  <a:lnTo>
                    <a:pt x="12700" y="696849"/>
                  </a:lnTo>
                  <a:lnTo>
                    <a:pt x="6350" y="696849"/>
                  </a:lnTo>
                  <a:lnTo>
                    <a:pt x="12700" y="696849"/>
                  </a:lnTo>
                  <a:cubicBezTo>
                    <a:pt x="12700" y="718312"/>
                    <a:pt x="30353" y="735838"/>
                    <a:pt x="52197" y="735838"/>
                  </a:cubicBezTo>
                  <a:lnTo>
                    <a:pt x="1782191" y="735838"/>
                  </a:lnTo>
                  <a:cubicBezTo>
                    <a:pt x="1804035" y="735838"/>
                    <a:pt x="1821688" y="718312"/>
                    <a:pt x="1821688" y="696849"/>
                  </a:cubicBezTo>
                  <a:lnTo>
                    <a:pt x="1821688" y="51689"/>
                  </a:lnTo>
                  <a:cubicBezTo>
                    <a:pt x="1821688" y="30226"/>
                    <a:pt x="1804035" y="12700"/>
                    <a:pt x="1782191" y="12700"/>
                  </a:cubicBezTo>
                  <a:lnTo>
                    <a:pt x="52197" y="12700"/>
                  </a:lnTo>
                  <a:lnTo>
                    <a:pt x="52197" y="6350"/>
                  </a:lnTo>
                  <a:lnTo>
                    <a:pt x="52197" y="12700"/>
                  </a:lnTo>
                  <a:cubicBezTo>
                    <a:pt x="30353" y="12700"/>
                    <a:pt x="12700" y="30226"/>
                    <a:pt x="12700" y="51689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1644101"/>
            <a:ext cx="1006973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CONTEXT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233908"/>
            <a:ext cx="16303523" cy="181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Delhi's 2028 ICE Mandate and ₹10,900 Crore PM E-DRIVE Scheme Are Accelerating the EV Transition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138317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Policy Drivers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949276"/>
            <a:ext cx="16303523" cy="2197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100% electric two-wheeler registrations</a:t>
            </a: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mandated in Delhi from April 2028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PM E-DRIVE:</a:t>
            </a: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₹10,900 Cr central outlay; ₹5,000 subsidy per eligible two-wheeler (extended to July 2026)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Delhi EV Policy 2024–30:</a:t>
            </a: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100% road tax waiver + ₹20,000 state purchase subsidy (Year 1)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19.19 lakh</a:t>
            </a: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electric two-wheelers sold under PM E-DRIVE by January 2026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7465809"/>
            <a:ext cx="16303523" cy="1204760"/>
            <a:chOff x="0" y="0"/>
            <a:chExt cx="21738031" cy="16063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7954" cy="1606296"/>
            </a:xfrm>
            <a:custGeom>
              <a:avLst/>
              <a:gdLst/>
              <a:ahLst/>
              <a:cxnLst/>
              <a:rect r="r" b="b" t="t" l="l"/>
              <a:pathLst>
                <a:path h="1606296" w="2173795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21681312" y="0"/>
                  </a:lnTo>
                  <a:cubicBezTo>
                    <a:pt x="21712681" y="0"/>
                    <a:pt x="21737954" y="25400"/>
                    <a:pt x="21737954" y="56642"/>
                  </a:cubicBezTo>
                  <a:lnTo>
                    <a:pt x="21737954" y="1549654"/>
                  </a:lnTo>
                  <a:cubicBezTo>
                    <a:pt x="21737954" y="1581023"/>
                    <a:pt x="21712554" y="1606296"/>
                    <a:pt x="21681312" y="1606296"/>
                  </a:cubicBezTo>
                  <a:lnTo>
                    <a:pt x="56642" y="1606296"/>
                  </a:lnTo>
                  <a:cubicBezTo>
                    <a:pt x="25273" y="1606296"/>
                    <a:pt x="0" y="1580896"/>
                    <a:pt x="0" y="1549654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75759" y="7876880"/>
            <a:ext cx="354359" cy="283521"/>
            <a:chOff x="0" y="0"/>
            <a:chExt cx="472478" cy="37802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1" r="-8" b="-65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913630" y="7734452"/>
            <a:ext cx="1509861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Combined subsidies total </a:t>
            </a:r>
            <a:r>
              <a:rPr lang="en-US" sz="2187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₹32,848</a:t>
            </a:r>
            <a:r>
              <a:rPr lang="en-US" sz="2187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— reducing the Ather's effective on-road cost to ₹1,27,866.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19835" y="542477"/>
            <a:ext cx="1333205" cy="337395"/>
            <a:chOff x="0" y="0"/>
            <a:chExt cx="1777606" cy="4498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7492" cy="449834"/>
            </a:xfrm>
            <a:custGeom>
              <a:avLst/>
              <a:gdLst/>
              <a:ahLst/>
              <a:cxnLst/>
              <a:rect r="r" b="b" t="t" l="l"/>
              <a:pathLst>
                <a:path h="449834" w="1777492">
                  <a:moveTo>
                    <a:pt x="0" y="36068"/>
                  </a:moveTo>
                  <a:cubicBezTo>
                    <a:pt x="0" y="16002"/>
                    <a:pt x="16637" y="0"/>
                    <a:pt x="36703" y="0"/>
                  </a:cubicBezTo>
                  <a:lnTo>
                    <a:pt x="1740789" y="0"/>
                  </a:lnTo>
                  <a:lnTo>
                    <a:pt x="1740789" y="6350"/>
                  </a:lnTo>
                  <a:lnTo>
                    <a:pt x="1740789" y="0"/>
                  </a:lnTo>
                  <a:cubicBezTo>
                    <a:pt x="1760982" y="0"/>
                    <a:pt x="1777492" y="16002"/>
                    <a:pt x="1777492" y="36068"/>
                  </a:cubicBezTo>
                  <a:lnTo>
                    <a:pt x="1771142" y="36068"/>
                  </a:lnTo>
                  <a:lnTo>
                    <a:pt x="1777492" y="36068"/>
                  </a:lnTo>
                  <a:lnTo>
                    <a:pt x="1777492" y="413766"/>
                  </a:lnTo>
                  <a:lnTo>
                    <a:pt x="1771142" y="413766"/>
                  </a:lnTo>
                  <a:lnTo>
                    <a:pt x="1777492" y="413766"/>
                  </a:lnTo>
                  <a:cubicBezTo>
                    <a:pt x="1777492" y="433832"/>
                    <a:pt x="1760855" y="449834"/>
                    <a:pt x="1740789" y="449834"/>
                  </a:cubicBezTo>
                  <a:lnTo>
                    <a:pt x="1740789" y="443484"/>
                  </a:lnTo>
                  <a:lnTo>
                    <a:pt x="1740789" y="449834"/>
                  </a:lnTo>
                  <a:lnTo>
                    <a:pt x="36703" y="449834"/>
                  </a:lnTo>
                  <a:lnTo>
                    <a:pt x="36703" y="443484"/>
                  </a:lnTo>
                  <a:lnTo>
                    <a:pt x="36703" y="449834"/>
                  </a:lnTo>
                  <a:cubicBezTo>
                    <a:pt x="16637" y="449834"/>
                    <a:pt x="0" y="433832"/>
                    <a:pt x="0" y="413766"/>
                  </a:cubicBezTo>
                  <a:lnTo>
                    <a:pt x="0" y="36068"/>
                  </a:lnTo>
                  <a:lnTo>
                    <a:pt x="6350" y="36068"/>
                  </a:lnTo>
                  <a:lnTo>
                    <a:pt x="0" y="36068"/>
                  </a:lnTo>
                  <a:moveTo>
                    <a:pt x="12700" y="36068"/>
                  </a:moveTo>
                  <a:lnTo>
                    <a:pt x="12700" y="413766"/>
                  </a:lnTo>
                  <a:lnTo>
                    <a:pt x="6350" y="413766"/>
                  </a:lnTo>
                  <a:lnTo>
                    <a:pt x="12700" y="413766"/>
                  </a:lnTo>
                  <a:cubicBezTo>
                    <a:pt x="12700" y="426593"/>
                    <a:pt x="23368" y="437134"/>
                    <a:pt x="36703" y="437134"/>
                  </a:cubicBezTo>
                  <a:lnTo>
                    <a:pt x="1740789" y="437134"/>
                  </a:lnTo>
                  <a:cubicBezTo>
                    <a:pt x="1754251" y="437134"/>
                    <a:pt x="1764792" y="426466"/>
                    <a:pt x="1764792" y="413766"/>
                  </a:cubicBezTo>
                  <a:lnTo>
                    <a:pt x="1764792" y="36068"/>
                  </a:lnTo>
                  <a:cubicBezTo>
                    <a:pt x="1764792" y="23241"/>
                    <a:pt x="1754124" y="12700"/>
                    <a:pt x="1740789" y="12700"/>
                  </a:cubicBezTo>
                  <a:lnTo>
                    <a:pt x="36703" y="12700"/>
                  </a:lnTo>
                  <a:lnTo>
                    <a:pt x="36703" y="6350"/>
                  </a:lnTo>
                  <a:lnTo>
                    <a:pt x="36703" y="12700"/>
                  </a:lnTo>
                  <a:cubicBezTo>
                    <a:pt x="23368" y="12700"/>
                    <a:pt x="12700" y="23368"/>
                    <a:pt x="12700" y="36068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845746" y="583997"/>
            <a:ext cx="1081383" cy="22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24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24598" y="895350"/>
            <a:ext cx="12838805" cy="119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TCO Model Captures Net Upfront Cost, Running Expenses, and Service Over a Full 5-Year Ownership Cycle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518699" y="2269922"/>
            <a:ext cx="7250459" cy="6839541"/>
            <a:chOff x="0" y="0"/>
            <a:chExt cx="9667278" cy="9119387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667240" cy="9119362"/>
            </a:xfrm>
            <a:custGeom>
              <a:avLst/>
              <a:gdLst/>
              <a:ahLst/>
              <a:cxnLst/>
              <a:rect r="r" b="b" t="t" l="l"/>
              <a:pathLst>
                <a:path h="9119362" w="9667240">
                  <a:moveTo>
                    <a:pt x="0" y="0"/>
                  </a:moveTo>
                  <a:lnTo>
                    <a:pt x="9667240" y="0"/>
                  </a:lnTo>
                  <a:lnTo>
                    <a:pt x="9667240" y="9119362"/>
                  </a:lnTo>
                  <a:lnTo>
                    <a:pt x="0" y="9119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" r="0" b="-9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214796" y="6655965"/>
            <a:ext cx="2301735" cy="38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true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Net Upfront Cost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14796" y="7176907"/>
            <a:ext cx="2301735" cy="68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812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Ex-showroom + RTO + Yr1 insurance − subsidies.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48012" y="3617204"/>
            <a:ext cx="2301735" cy="38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true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Running Cost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48012" y="4138155"/>
            <a:ext cx="2301735" cy="449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812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Daily km × cost/km × 365 × 5 years.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83747" y="6655965"/>
            <a:ext cx="2301735" cy="38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true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Recurring OpEx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83747" y="7176907"/>
            <a:ext cx="2301735" cy="68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812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Annual service + insurance renewals Yr2–Yr5.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24598" y="9237316"/>
            <a:ext cx="12838805" cy="50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4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TCO = Net Upfront Cost + (Daily km × Cost per km × 365 × 5) + (Service + Insurance renewals). All inputs sourced from publicly available, authoritative data as of April 2026. Year 1 insurance is included in capital outlay; Years 2–5 renewals treated as operating expenses.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44216" y="745179"/>
            <a:ext cx="1705566" cy="423862"/>
            <a:chOff x="0" y="0"/>
            <a:chExt cx="2274087" cy="565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4189" cy="565150"/>
            </a:xfrm>
            <a:custGeom>
              <a:avLst/>
              <a:gdLst/>
              <a:ahLst/>
              <a:cxnLst/>
              <a:rect r="r" b="b" t="t" l="l"/>
              <a:pathLst>
                <a:path h="565150" w="2274189">
                  <a:moveTo>
                    <a:pt x="0" y="42545"/>
                  </a:moveTo>
                  <a:cubicBezTo>
                    <a:pt x="0" y="18923"/>
                    <a:pt x="19431" y="0"/>
                    <a:pt x="43180" y="0"/>
                  </a:cubicBezTo>
                  <a:lnTo>
                    <a:pt x="2231009" y="0"/>
                  </a:lnTo>
                  <a:lnTo>
                    <a:pt x="2231009" y="6350"/>
                  </a:lnTo>
                  <a:lnTo>
                    <a:pt x="2231009" y="0"/>
                  </a:lnTo>
                  <a:cubicBezTo>
                    <a:pt x="2254758" y="0"/>
                    <a:pt x="2274189" y="18923"/>
                    <a:pt x="2274189" y="42545"/>
                  </a:cubicBezTo>
                  <a:lnTo>
                    <a:pt x="2267839" y="42545"/>
                  </a:lnTo>
                  <a:lnTo>
                    <a:pt x="2274189" y="42545"/>
                  </a:lnTo>
                  <a:lnTo>
                    <a:pt x="2274189" y="522605"/>
                  </a:lnTo>
                  <a:lnTo>
                    <a:pt x="2267839" y="522605"/>
                  </a:lnTo>
                  <a:lnTo>
                    <a:pt x="2274189" y="522605"/>
                  </a:lnTo>
                  <a:cubicBezTo>
                    <a:pt x="2274189" y="546227"/>
                    <a:pt x="2254758" y="565150"/>
                    <a:pt x="2231009" y="565150"/>
                  </a:cubicBezTo>
                  <a:lnTo>
                    <a:pt x="2231009" y="558800"/>
                  </a:lnTo>
                  <a:lnTo>
                    <a:pt x="2231009" y="565150"/>
                  </a:lnTo>
                  <a:lnTo>
                    <a:pt x="43180" y="565150"/>
                  </a:lnTo>
                  <a:lnTo>
                    <a:pt x="43180" y="558800"/>
                  </a:lnTo>
                  <a:lnTo>
                    <a:pt x="43180" y="565150"/>
                  </a:lnTo>
                  <a:cubicBezTo>
                    <a:pt x="19431" y="565150"/>
                    <a:pt x="0" y="546227"/>
                    <a:pt x="0" y="522605"/>
                  </a:cubicBezTo>
                  <a:lnTo>
                    <a:pt x="0" y="42545"/>
                  </a:lnTo>
                  <a:lnTo>
                    <a:pt x="6350" y="42545"/>
                  </a:lnTo>
                  <a:lnTo>
                    <a:pt x="0" y="42545"/>
                  </a:lnTo>
                  <a:moveTo>
                    <a:pt x="12700" y="42545"/>
                  </a:moveTo>
                  <a:lnTo>
                    <a:pt x="12700" y="522605"/>
                  </a:lnTo>
                  <a:lnTo>
                    <a:pt x="6350" y="522605"/>
                  </a:lnTo>
                  <a:lnTo>
                    <a:pt x="12700" y="522605"/>
                  </a:lnTo>
                  <a:cubicBezTo>
                    <a:pt x="12700" y="538988"/>
                    <a:pt x="26162" y="552450"/>
                    <a:pt x="43180" y="552450"/>
                  </a:cubicBezTo>
                  <a:lnTo>
                    <a:pt x="2231009" y="552450"/>
                  </a:lnTo>
                  <a:cubicBezTo>
                    <a:pt x="2247900" y="552450"/>
                    <a:pt x="2261489" y="538988"/>
                    <a:pt x="2261489" y="522605"/>
                  </a:cubicBezTo>
                  <a:lnTo>
                    <a:pt x="2261489" y="42545"/>
                  </a:lnTo>
                  <a:cubicBezTo>
                    <a:pt x="2261489" y="26162"/>
                    <a:pt x="2248027" y="12700"/>
                    <a:pt x="2231009" y="12700"/>
                  </a:cubicBezTo>
                  <a:lnTo>
                    <a:pt x="43180" y="12700"/>
                  </a:lnTo>
                  <a:lnTo>
                    <a:pt x="43180" y="6350"/>
                  </a:lnTo>
                  <a:lnTo>
                    <a:pt x="43180" y="12700"/>
                  </a:lnTo>
                  <a:cubicBezTo>
                    <a:pt x="26162" y="12700"/>
                    <a:pt x="12700" y="26162"/>
                    <a:pt x="12700" y="42545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93939" y="789089"/>
            <a:ext cx="1406128" cy="29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375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UPFRONT COSTS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8978" y="1198064"/>
            <a:ext cx="15589891" cy="144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37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Subsidies Reduce the Ather's On-Road Premium to ₹38,341 Over the Activa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48978" y="3120333"/>
            <a:ext cx="7519245" cy="3697634"/>
            <a:chOff x="0" y="0"/>
            <a:chExt cx="10025659" cy="493017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025634" cy="4930140"/>
            </a:xfrm>
            <a:custGeom>
              <a:avLst/>
              <a:gdLst/>
              <a:ahLst/>
              <a:cxnLst/>
              <a:rect r="r" b="b" t="t" l="l"/>
              <a:pathLst>
                <a:path h="4930140" w="10025634">
                  <a:moveTo>
                    <a:pt x="0" y="0"/>
                  </a:moveTo>
                  <a:lnTo>
                    <a:pt x="10025634" y="0"/>
                  </a:lnTo>
                  <a:lnTo>
                    <a:pt x="10025634" y="4930140"/>
                  </a:lnTo>
                  <a:lnTo>
                    <a:pt x="0" y="4930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29007" y="3069279"/>
            <a:ext cx="2824162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Cost Breakdown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24245" y="3648523"/>
            <a:ext cx="7528770" cy="4327627"/>
            <a:chOff x="0" y="0"/>
            <a:chExt cx="10038359" cy="57701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38334" cy="5770118"/>
            </a:xfrm>
            <a:custGeom>
              <a:avLst/>
              <a:gdLst/>
              <a:ahLst/>
              <a:cxnLst/>
              <a:rect r="r" b="b" t="t" l="l"/>
              <a:pathLst>
                <a:path h="5770118" w="10038334">
                  <a:moveTo>
                    <a:pt x="0" y="51562"/>
                  </a:moveTo>
                  <a:cubicBezTo>
                    <a:pt x="0" y="23114"/>
                    <a:pt x="23114" y="0"/>
                    <a:pt x="51562" y="0"/>
                  </a:cubicBezTo>
                  <a:lnTo>
                    <a:pt x="9986772" y="0"/>
                  </a:lnTo>
                  <a:lnTo>
                    <a:pt x="9986772" y="6350"/>
                  </a:lnTo>
                  <a:lnTo>
                    <a:pt x="9986772" y="0"/>
                  </a:lnTo>
                  <a:cubicBezTo>
                    <a:pt x="10015220" y="0"/>
                    <a:pt x="10038334" y="23114"/>
                    <a:pt x="10038334" y="51562"/>
                  </a:cubicBezTo>
                  <a:lnTo>
                    <a:pt x="10031984" y="51562"/>
                  </a:lnTo>
                  <a:lnTo>
                    <a:pt x="10038334" y="51562"/>
                  </a:lnTo>
                  <a:lnTo>
                    <a:pt x="10038334" y="5718556"/>
                  </a:lnTo>
                  <a:lnTo>
                    <a:pt x="10031984" y="5718556"/>
                  </a:lnTo>
                  <a:lnTo>
                    <a:pt x="10038334" y="5718556"/>
                  </a:lnTo>
                  <a:cubicBezTo>
                    <a:pt x="10038334" y="5747004"/>
                    <a:pt x="10015220" y="5770118"/>
                    <a:pt x="9986772" y="5770118"/>
                  </a:cubicBezTo>
                  <a:lnTo>
                    <a:pt x="9986772" y="5763768"/>
                  </a:lnTo>
                  <a:lnTo>
                    <a:pt x="9986772" y="5770118"/>
                  </a:lnTo>
                  <a:lnTo>
                    <a:pt x="51562" y="5770118"/>
                  </a:lnTo>
                  <a:lnTo>
                    <a:pt x="51562" y="5763768"/>
                  </a:lnTo>
                  <a:lnTo>
                    <a:pt x="51562" y="5770118"/>
                  </a:lnTo>
                  <a:cubicBezTo>
                    <a:pt x="23114" y="5770118"/>
                    <a:pt x="0" y="5747004"/>
                    <a:pt x="0" y="5718556"/>
                  </a:cubicBezTo>
                  <a:lnTo>
                    <a:pt x="0" y="51562"/>
                  </a:lnTo>
                  <a:lnTo>
                    <a:pt x="6350" y="51562"/>
                  </a:lnTo>
                  <a:lnTo>
                    <a:pt x="0" y="51562"/>
                  </a:lnTo>
                  <a:moveTo>
                    <a:pt x="12700" y="51562"/>
                  </a:moveTo>
                  <a:lnTo>
                    <a:pt x="12700" y="5718556"/>
                  </a:lnTo>
                  <a:lnTo>
                    <a:pt x="6350" y="5718556"/>
                  </a:lnTo>
                  <a:lnTo>
                    <a:pt x="12700" y="5718556"/>
                  </a:lnTo>
                  <a:cubicBezTo>
                    <a:pt x="12700" y="5740019"/>
                    <a:pt x="30099" y="5757418"/>
                    <a:pt x="51562" y="5757418"/>
                  </a:cubicBezTo>
                  <a:lnTo>
                    <a:pt x="9986772" y="5757418"/>
                  </a:lnTo>
                  <a:cubicBezTo>
                    <a:pt x="10008235" y="5757418"/>
                    <a:pt x="10025634" y="5740019"/>
                    <a:pt x="10025634" y="5718556"/>
                  </a:cubicBezTo>
                  <a:lnTo>
                    <a:pt x="10025634" y="51562"/>
                  </a:lnTo>
                  <a:cubicBezTo>
                    <a:pt x="10025634" y="30099"/>
                    <a:pt x="10008235" y="12700"/>
                    <a:pt x="9986772" y="12700"/>
                  </a:cubicBezTo>
                  <a:lnTo>
                    <a:pt x="51562" y="12700"/>
                  </a:lnTo>
                  <a:lnTo>
                    <a:pt x="51562" y="6350"/>
                  </a:lnTo>
                  <a:lnTo>
                    <a:pt x="51562" y="12700"/>
                  </a:lnTo>
                  <a:cubicBezTo>
                    <a:pt x="30099" y="12700"/>
                    <a:pt x="12700" y="30099"/>
                    <a:pt x="12700" y="51562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665494" y="3751659"/>
            <a:ext cx="2042817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Component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69673" y="3751659"/>
            <a:ext cx="2038055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Activa 6G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69091" y="3751659"/>
            <a:ext cx="2042817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Ather 450X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65494" y="4320778"/>
            <a:ext cx="2042817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Ex-Showroom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69673" y="4320778"/>
            <a:ext cx="2038055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₹75,433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69091" y="4320778"/>
            <a:ext cx="2042817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₹1,47,999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65494" y="4889897"/>
            <a:ext cx="2042817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RTO / Registration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69673" y="4889897"/>
            <a:ext cx="2038055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₹7,848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69091" y="4889897"/>
            <a:ext cx="2042817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₹0 (waived)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65494" y="5459016"/>
            <a:ext cx="2042817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Year 1 Insurance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69673" y="5459016"/>
            <a:ext cx="2038055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₹6,244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69091" y="5459016"/>
            <a:ext cx="2042817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₹4,867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65494" y="6028134"/>
            <a:ext cx="2042817" cy="67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PM E-DRIVE Subsidy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69673" y="6028134"/>
            <a:ext cx="2038055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—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69091" y="6028134"/>
            <a:ext cx="2042817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− ₹5,000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65494" y="6921998"/>
            <a:ext cx="2042817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Delhi State Subsidy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69673" y="6921998"/>
            <a:ext cx="2038055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—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669091" y="6921998"/>
            <a:ext cx="2042817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− ₹20,000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65494" y="7491117"/>
            <a:ext cx="2042817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Net On-Road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69673" y="7491117"/>
            <a:ext cx="2038055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₹89,525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669091" y="7491117"/>
            <a:ext cx="2042817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₹1,27,866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429007" y="8173793"/>
            <a:ext cx="7519245" cy="1160707"/>
            <a:chOff x="0" y="0"/>
            <a:chExt cx="10025659" cy="15476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25634" cy="1547622"/>
            </a:xfrm>
            <a:custGeom>
              <a:avLst/>
              <a:gdLst/>
              <a:ahLst/>
              <a:cxnLst/>
              <a:rect r="r" b="b" t="t" l="l"/>
              <a:pathLst>
                <a:path h="1547622" w="10025634">
                  <a:moveTo>
                    <a:pt x="0" y="45212"/>
                  </a:moveTo>
                  <a:cubicBezTo>
                    <a:pt x="0" y="20193"/>
                    <a:pt x="20193" y="0"/>
                    <a:pt x="45212" y="0"/>
                  </a:cubicBezTo>
                  <a:lnTo>
                    <a:pt x="9980422" y="0"/>
                  </a:lnTo>
                  <a:cubicBezTo>
                    <a:pt x="10005440" y="0"/>
                    <a:pt x="10025634" y="20193"/>
                    <a:pt x="10025634" y="45212"/>
                  </a:cubicBezTo>
                  <a:lnTo>
                    <a:pt x="10025634" y="1502410"/>
                  </a:lnTo>
                  <a:cubicBezTo>
                    <a:pt x="10025634" y="1527429"/>
                    <a:pt x="10005440" y="1547622"/>
                    <a:pt x="9980422" y="1547622"/>
                  </a:cubicBezTo>
                  <a:lnTo>
                    <a:pt x="45212" y="1547622"/>
                  </a:lnTo>
                  <a:cubicBezTo>
                    <a:pt x="20193" y="1547622"/>
                    <a:pt x="0" y="1527429"/>
                    <a:pt x="0" y="1502410"/>
                  </a:cubicBezTo>
                  <a:close/>
                </a:path>
              </a:pathLst>
            </a:custGeom>
            <a:solidFill>
              <a:srgbClr val="B3C3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54931" y="8486927"/>
            <a:ext cx="282331" cy="225923"/>
            <a:chOff x="0" y="0"/>
            <a:chExt cx="376441" cy="301231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376428" cy="301244"/>
            </a:xfrm>
            <a:custGeom>
              <a:avLst/>
              <a:gdLst/>
              <a:ahLst/>
              <a:cxnLst/>
              <a:rect r="r" b="b" t="t" l="l"/>
              <a:pathLst>
                <a:path h="301244" w="376428">
                  <a:moveTo>
                    <a:pt x="0" y="0"/>
                  </a:moveTo>
                  <a:lnTo>
                    <a:pt x="376428" y="0"/>
                  </a:lnTo>
                  <a:lnTo>
                    <a:pt x="376428" y="301244"/>
                  </a:lnTo>
                  <a:lnTo>
                    <a:pt x="0" y="301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t="0" r="-13" b="4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163175" y="8381552"/>
            <a:ext cx="6559153" cy="67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Upfront premium of </a:t>
            </a:r>
            <a:r>
              <a:rPr lang="en-US" sz="1750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₹38,341</a:t>
            </a:r>
            <a:r>
              <a:rPr lang="en-US" sz="17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must be recovered through lower running costs.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3498" y="692944"/>
            <a:ext cx="1858270" cy="475212"/>
            <a:chOff x="0" y="0"/>
            <a:chExt cx="2477694" cy="6336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77643" cy="633730"/>
            </a:xfrm>
            <a:custGeom>
              <a:avLst/>
              <a:gdLst/>
              <a:ahLst/>
              <a:cxnLst/>
              <a:rect r="r" b="b" t="t" l="l"/>
              <a:pathLst>
                <a:path h="633730" w="2477643">
                  <a:moveTo>
                    <a:pt x="0" y="46101"/>
                  </a:moveTo>
                  <a:cubicBezTo>
                    <a:pt x="0" y="20574"/>
                    <a:pt x="20955" y="0"/>
                    <a:pt x="46609" y="0"/>
                  </a:cubicBezTo>
                  <a:lnTo>
                    <a:pt x="2431034" y="0"/>
                  </a:lnTo>
                  <a:lnTo>
                    <a:pt x="2431034" y="6350"/>
                  </a:lnTo>
                  <a:lnTo>
                    <a:pt x="2431034" y="0"/>
                  </a:lnTo>
                  <a:cubicBezTo>
                    <a:pt x="2456688" y="0"/>
                    <a:pt x="2477643" y="20574"/>
                    <a:pt x="2477643" y="46101"/>
                  </a:cubicBezTo>
                  <a:lnTo>
                    <a:pt x="2471293" y="46101"/>
                  </a:lnTo>
                  <a:lnTo>
                    <a:pt x="2477643" y="46101"/>
                  </a:lnTo>
                  <a:lnTo>
                    <a:pt x="2477643" y="587629"/>
                  </a:lnTo>
                  <a:lnTo>
                    <a:pt x="2471293" y="587629"/>
                  </a:lnTo>
                  <a:lnTo>
                    <a:pt x="2477643" y="587629"/>
                  </a:lnTo>
                  <a:cubicBezTo>
                    <a:pt x="2477643" y="613156"/>
                    <a:pt x="2456688" y="633730"/>
                    <a:pt x="2431034" y="633730"/>
                  </a:cubicBezTo>
                  <a:lnTo>
                    <a:pt x="2431034" y="627380"/>
                  </a:lnTo>
                  <a:lnTo>
                    <a:pt x="2431034" y="633730"/>
                  </a:lnTo>
                  <a:lnTo>
                    <a:pt x="46609" y="633730"/>
                  </a:lnTo>
                  <a:lnTo>
                    <a:pt x="46609" y="627380"/>
                  </a:lnTo>
                  <a:lnTo>
                    <a:pt x="46609" y="633730"/>
                  </a:lnTo>
                  <a:cubicBezTo>
                    <a:pt x="20955" y="633603"/>
                    <a:pt x="0" y="613029"/>
                    <a:pt x="0" y="587629"/>
                  </a:cubicBezTo>
                  <a:lnTo>
                    <a:pt x="0" y="46101"/>
                  </a:lnTo>
                  <a:lnTo>
                    <a:pt x="6350" y="46101"/>
                  </a:lnTo>
                  <a:lnTo>
                    <a:pt x="0" y="46101"/>
                  </a:lnTo>
                  <a:moveTo>
                    <a:pt x="12700" y="46101"/>
                  </a:moveTo>
                  <a:lnTo>
                    <a:pt x="12700" y="587629"/>
                  </a:lnTo>
                  <a:lnTo>
                    <a:pt x="6350" y="587629"/>
                  </a:lnTo>
                  <a:lnTo>
                    <a:pt x="12700" y="587629"/>
                  </a:lnTo>
                  <a:cubicBezTo>
                    <a:pt x="12700" y="605917"/>
                    <a:pt x="27813" y="621030"/>
                    <a:pt x="46609" y="621030"/>
                  </a:cubicBezTo>
                  <a:lnTo>
                    <a:pt x="2431034" y="621030"/>
                  </a:lnTo>
                  <a:cubicBezTo>
                    <a:pt x="2449830" y="621030"/>
                    <a:pt x="2464943" y="606044"/>
                    <a:pt x="2464943" y="587629"/>
                  </a:cubicBezTo>
                  <a:lnTo>
                    <a:pt x="2464943" y="46101"/>
                  </a:lnTo>
                  <a:cubicBezTo>
                    <a:pt x="2464943" y="27813"/>
                    <a:pt x="2449830" y="12700"/>
                    <a:pt x="2431034" y="12700"/>
                  </a:cubicBezTo>
                  <a:lnTo>
                    <a:pt x="46609" y="12700"/>
                  </a:lnTo>
                  <a:lnTo>
                    <a:pt x="46609" y="6350"/>
                  </a:lnTo>
                  <a:lnTo>
                    <a:pt x="46609" y="12700"/>
                  </a:lnTo>
                  <a:cubicBezTo>
                    <a:pt x="27813" y="12700"/>
                    <a:pt x="12700" y="27686"/>
                    <a:pt x="12700" y="46101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6614" y="734016"/>
            <a:ext cx="1532039" cy="345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562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RUNNING COSTS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8261" y="1221581"/>
            <a:ext cx="16551478" cy="1578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EV Running Costs Are 78–94% Lower Than Petrol Across All Usage Scenarios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63498" y="3365154"/>
            <a:ext cx="1501378" cy="215208"/>
            <a:chOff x="0" y="0"/>
            <a:chExt cx="2001838" cy="2869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1989201" cy="274320"/>
            </a:xfrm>
            <a:custGeom>
              <a:avLst/>
              <a:gdLst/>
              <a:ahLst/>
              <a:cxnLst/>
              <a:rect r="r" b="b" t="t" l="l"/>
              <a:pathLst>
                <a:path h="274320" w="1989201">
                  <a:moveTo>
                    <a:pt x="0" y="137160"/>
                  </a:moveTo>
                  <a:cubicBezTo>
                    <a:pt x="0" y="61341"/>
                    <a:pt x="63881" y="0"/>
                    <a:pt x="142621" y="0"/>
                  </a:cubicBezTo>
                  <a:lnTo>
                    <a:pt x="1846580" y="0"/>
                  </a:lnTo>
                  <a:cubicBezTo>
                    <a:pt x="1925320" y="0"/>
                    <a:pt x="1989201" y="61341"/>
                    <a:pt x="1989201" y="137160"/>
                  </a:cubicBezTo>
                  <a:cubicBezTo>
                    <a:pt x="1989201" y="212979"/>
                    <a:pt x="1925320" y="274320"/>
                    <a:pt x="1846580" y="274320"/>
                  </a:cubicBezTo>
                  <a:lnTo>
                    <a:pt x="142621" y="274320"/>
                  </a:lnTo>
                  <a:cubicBezTo>
                    <a:pt x="63881" y="274193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01901" cy="287020"/>
            </a:xfrm>
            <a:custGeom>
              <a:avLst/>
              <a:gdLst/>
              <a:ahLst/>
              <a:cxnLst/>
              <a:rect r="r" b="b" t="t" l="l"/>
              <a:pathLst>
                <a:path h="287020" w="2001901">
                  <a:moveTo>
                    <a:pt x="0" y="143510"/>
                  </a:moveTo>
                  <a:cubicBezTo>
                    <a:pt x="0" y="64008"/>
                    <a:pt x="66929" y="0"/>
                    <a:pt x="148971" y="0"/>
                  </a:cubicBezTo>
                  <a:lnTo>
                    <a:pt x="1852930" y="0"/>
                  </a:lnTo>
                  <a:lnTo>
                    <a:pt x="1852930" y="6350"/>
                  </a:lnTo>
                  <a:lnTo>
                    <a:pt x="1852930" y="0"/>
                  </a:lnTo>
                  <a:cubicBezTo>
                    <a:pt x="1934972" y="0"/>
                    <a:pt x="2001901" y="64008"/>
                    <a:pt x="2001901" y="143510"/>
                  </a:cubicBezTo>
                  <a:lnTo>
                    <a:pt x="1995551" y="143510"/>
                  </a:lnTo>
                  <a:lnTo>
                    <a:pt x="2001901" y="143510"/>
                  </a:lnTo>
                  <a:lnTo>
                    <a:pt x="1995551" y="143510"/>
                  </a:lnTo>
                  <a:lnTo>
                    <a:pt x="2001901" y="143510"/>
                  </a:lnTo>
                  <a:cubicBezTo>
                    <a:pt x="2001901" y="223012"/>
                    <a:pt x="1934972" y="287020"/>
                    <a:pt x="1852930" y="287020"/>
                  </a:cubicBezTo>
                  <a:lnTo>
                    <a:pt x="1852930" y="280670"/>
                  </a:lnTo>
                  <a:lnTo>
                    <a:pt x="1852930" y="287020"/>
                  </a:lnTo>
                  <a:lnTo>
                    <a:pt x="148971" y="287020"/>
                  </a:lnTo>
                  <a:lnTo>
                    <a:pt x="148971" y="280670"/>
                  </a:lnTo>
                  <a:lnTo>
                    <a:pt x="148971" y="287020"/>
                  </a:lnTo>
                  <a:cubicBezTo>
                    <a:pt x="66929" y="286893"/>
                    <a:pt x="0" y="222885"/>
                    <a:pt x="0" y="143510"/>
                  </a:cubicBezTo>
                  <a:lnTo>
                    <a:pt x="6350" y="143510"/>
                  </a:lnTo>
                  <a:lnTo>
                    <a:pt x="0" y="143510"/>
                  </a:lnTo>
                  <a:moveTo>
                    <a:pt x="12700" y="143510"/>
                  </a:moveTo>
                  <a:lnTo>
                    <a:pt x="6350" y="143510"/>
                  </a:lnTo>
                  <a:lnTo>
                    <a:pt x="12700" y="143510"/>
                  </a:lnTo>
                  <a:cubicBezTo>
                    <a:pt x="12700" y="215519"/>
                    <a:pt x="73406" y="274320"/>
                    <a:pt x="148971" y="274320"/>
                  </a:cubicBezTo>
                  <a:lnTo>
                    <a:pt x="1852930" y="274320"/>
                  </a:lnTo>
                  <a:cubicBezTo>
                    <a:pt x="1928368" y="274320"/>
                    <a:pt x="1989201" y="215519"/>
                    <a:pt x="1989201" y="143510"/>
                  </a:cubicBezTo>
                  <a:cubicBezTo>
                    <a:pt x="1989201" y="71501"/>
                    <a:pt x="1928368" y="12700"/>
                    <a:pt x="1852930" y="12700"/>
                  </a:cubicBezTo>
                  <a:lnTo>
                    <a:pt x="148971" y="12700"/>
                  </a:lnTo>
                  <a:lnTo>
                    <a:pt x="148971" y="6350"/>
                  </a:lnTo>
                  <a:lnTo>
                    <a:pt x="148971" y="12700"/>
                  </a:lnTo>
                  <a:cubicBezTo>
                    <a:pt x="73406" y="12700"/>
                    <a:pt x="12700" y="71501"/>
                    <a:pt x="12700" y="1435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4936" y="3415608"/>
            <a:ext cx="114300" cy="114300"/>
            <a:chOff x="0" y="0"/>
            <a:chExt cx="152400" cy="1524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87336" y="3369916"/>
            <a:ext cx="1206103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4C4C4D"/>
                </a:solidFill>
                <a:latin typeface="Arimo"/>
                <a:ea typeface="Arimo"/>
                <a:cs typeface="Arimo"/>
                <a:sym typeface="Arimo"/>
              </a:rPr>
              <a:t>Activa Annual OpEx (₹)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431552" y="3365154"/>
            <a:ext cx="1477270" cy="215208"/>
            <a:chOff x="0" y="0"/>
            <a:chExt cx="1969694" cy="2869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1956943" cy="274320"/>
            </a:xfrm>
            <a:custGeom>
              <a:avLst/>
              <a:gdLst/>
              <a:ahLst/>
              <a:cxnLst/>
              <a:rect r="r" b="b" t="t" l="l"/>
              <a:pathLst>
                <a:path h="274320" w="1956943">
                  <a:moveTo>
                    <a:pt x="0" y="137160"/>
                  </a:moveTo>
                  <a:cubicBezTo>
                    <a:pt x="0" y="61341"/>
                    <a:pt x="63881" y="0"/>
                    <a:pt x="142494" y="0"/>
                  </a:cubicBezTo>
                  <a:lnTo>
                    <a:pt x="1814449" y="0"/>
                  </a:lnTo>
                  <a:cubicBezTo>
                    <a:pt x="1893189" y="0"/>
                    <a:pt x="1956943" y="61341"/>
                    <a:pt x="1956943" y="137160"/>
                  </a:cubicBezTo>
                  <a:cubicBezTo>
                    <a:pt x="1956943" y="212979"/>
                    <a:pt x="1893062" y="274320"/>
                    <a:pt x="1814449" y="274320"/>
                  </a:cubicBezTo>
                  <a:lnTo>
                    <a:pt x="142494" y="274320"/>
                  </a:lnTo>
                  <a:cubicBezTo>
                    <a:pt x="63881" y="274193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69643" cy="287020"/>
            </a:xfrm>
            <a:custGeom>
              <a:avLst/>
              <a:gdLst/>
              <a:ahLst/>
              <a:cxnLst/>
              <a:rect r="r" b="b" t="t" l="l"/>
              <a:pathLst>
                <a:path h="287020" w="1969643">
                  <a:moveTo>
                    <a:pt x="0" y="143510"/>
                  </a:moveTo>
                  <a:cubicBezTo>
                    <a:pt x="0" y="64008"/>
                    <a:pt x="66929" y="0"/>
                    <a:pt x="148844" y="0"/>
                  </a:cubicBezTo>
                  <a:lnTo>
                    <a:pt x="1820799" y="0"/>
                  </a:lnTo>
                  <a:lnTo>
                    <a:pt x="1820799" y="6350"/>
                  </a:lnTo>
                  <a:lnTo>
                    <a:pt x="1820799" y="0"/>
                  </a:lnTo>
                  <a:cubicBezTo>
                    <a:pt x="1902841" y="0"/>
                    <a:pt x="1969643" y="64008"/>
                    <a:pt x="1969643" y="143510"/>
                  </a:cubicBezTo>
                  <a:lnTo>
                    <a:pt x="1963293" y="143510"/>
                  </a:lnTo>
                  <a:lnTo>
                    <a:pt x="1969643" y="143510"/>
                  </a:lnTo>
                  <a:lnTo>
                    <a:pt x="1963293" y="143510"/>
                  </a:lnTo>
                  <a:lnTo>
                    <a:pt x="1969643" y="143510"/>
                  </a:lnTo>
                  <a:cubicBezTo>
                    <a:pt x="1969643" y="223012"/>
                    <a:pt x="1902714" y="287020"/>
                    <a:pt x="1820799" y="287020"/>
                  </a:cubicBezTo>
                  <a:lnTo>
                    <a:pt x="1820799" y="280670"/>
                  </a:lnTo>
                  <a:lnTo>
                    <a:pt x="1820799" y="287020"/>
                  </a:lnTo>
                  <a:lnTo>
                    <a:pt x="148844" y="287020"/>
                  </a:lnTo>
                  <a:lnTo>
                    <a:pt x="148844" y="280670"/>
                  </a:lnTo>
                  <a:lnTo>
                    <a:pt x="148844" y="287020"/>
                  </a:lnTo>
                  <a:cubicBezTo>
                    <a:pt x="66929" y="286893"/>
                    <a:pt x="0" y="222885"/>
                    <a:pt x="0" y="143510"/>
                  </a:cubicBezTo>
                  <a:lnTo>
                    <a:pt x="6350" y="143510"/>
                  </a:lnTo>
                  <a:lnTo>
                    <a:pt x="0" y="143510"/>
                  </a:lnTo>
                  <a:moveTo>
                    <a:pt x="12700" y="143510"/>
                  </a:moveTo>
                  <a:lnTo>
                    <a:pt x="6350" y="143510"/>
                  </a:lnTo>
                  <a:lnTo>
                    <a:pt x="12700" y="143510"/>
                  </a:lnTo>
                  <a:cubicBezTo>
                    <a:pt x="12700" y="215519"/>
                    <a:pt x="73406" y="274320"/>
                    <a:pt x="148844" y="274320"/>
                  </a:cubicBezTo>
                  <a:lnTo>
                    <a:pt x="1820799" y="274320"/>
                  </a:lnTo>
                  <a:cubicBezTo>
                    <a:pt x="1896237" y="274320"/>
                    <a:pt x="1956943" y="215519"/>
                    <a:pt x="1956943" y="143510"/>
                  </a:cubicBezTo>
                  <a:cubicBezTo>
                    <a:pt x="1956943" y="71501"/>
                    <a:pt x="1896237" y="12700"/>
                    <a:pt x="1820799" y="12700"/>
                  </a:cubicBezTo>
                  <a:lnTo>
                    <a:pt x="148844" y="12700"/>
                  </a:lnTo>
                  <a:lnTo>
                    <a:pt x="148844" y="6350"/>
                  </a:lnTo>
                  <a:lnTo>
                    <a:pt x="148844" y="12700"/>
                  </a:lnTo>
                  <a:cubicBezTo>
                    <a:pt x="73406" y="12700"/>
                    <a:pt x="12700" y="71501"/>
                    <a:pt x="12700" y="1435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502989" y="3415608"/>
            <a:ext cx="114300" cy="114300"/>
            <a:chOff x="0" y="0"/>
            <a:chExt cx="152400" cy="1524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655389" y="3369916"/>
            <a:ext cx="1181995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4C4C4D"/>
                </a:solidFill>
                <a:latin typeface="Arimo"/>
                <a:ea typeface="Arimo"/>
                <a:cs typeface="Arimo"/>
                <a:sym typeface="Arimo"/>
              </a:rPr>
              <a:t>Ather Annual OpEx (₹)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68261" y="3670849"/>
            <a:ext cx="7973168" cy="3753145"/>
            <a:chOff x="0" y="0"/>
            <a:chExt cx="10630891" cy="5004194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0630916" cy="5004181"/>
            </a:xfrm>
            <a:custGeom>
              <a:avLst/>
              <a:gdLst/>
              <a:ahLst/>
              <a:cxnLst/>
              <a:rect r="r" b="b" t="t" l="l"/>
              <a:pathLst>
                <a:path h="5004181" w="10630916">
                  <a:moveTo>
                    <a:pt x="0" y="0"/>
                  </a:moveTo>
                  <a:lnTo>
                    <a:pt x="10630916" y="0"/>
                  </a:lnTo>
                  <a:lnTo>
                    <a:pt x="10630916" y="5004181"/>
                  </a:lnTo>
                  <a:lnTo>
                    <a:pt x="0" y="5004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456096" y="3333302"/>
            <a:ext cx="3395367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Annual OpEx Components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51334" y="3969839"/>
            <a:ext cx="7982693" cy="4812802"/>
            <a:chOff x="0" y="0"/>
            <a:chExt cx="10643591" cy="64170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43615" cy="6417056"/>
            </a:xfrm>
            <a:custGeom>
              <a:avLst/>
              <a:gdLst/>
              <a:ahLst/>
              <a:cxnLst/>
              <a:rect r="r" b="b" t="t" l="l"/>
              <a:pathLst>
                <a:path h="6417056" w="10643615">
                  <a:moveTo>
                    <a:pt x="0" y="56007"/>
                  </a:moveTo>
                  <a:cubicBezTo>
                    <a:pt x="0" y="25019"/>
                    <a:pt x="25146" y="0"/>
                    <a:pt x="56007" y="0"/>
                  </a:cubicBezTo>
                  <a:lnTo>
                    <a:pt x="10587609" y="0"/>
                  </a:lnTo>
                  <a:lnTo>
                    <a:pt x="10587609" y="6350"/>
                  </a:lnTo>
                  <a:lnTo>
                    <a:pt x="10587609" y="0"/>
                  </a:lnTo>
                  <a:cubicBezTo>
                    <a:pt x="10618597" y="0"/>
                    <a:pt x="10643615" y="25019"/>
                    <a:pt x="10643615" y="56007"/>
                  </a:cubicBezTo>
                  <a:lnTo>
                    <a:pt x="10637265" y="56007"/>
                  </a:lnTo>
                  <a:lnTo>
                    <a:pt x="10643615" y="56007"/>
                  </a:lnTo>
                  <a:lnTo>
                    <a:pt x="10643615" y="6361049"/>
                  </a:lnTo>
                  <a:lnTo>
                    <a:pt x="10637265" y="6361049"/>
                  </a:lnTo>
                  <a:lnTo>
                    <a:pt x="10643615" y="6361049"/>
                  </a:lnTo>
                  <a:cubicBezTo>
                    <a:pt x="10643615" y="6391910"/>
                    <a:pt x="10618470" y="6417056"/>
                    <a:pt x="10587609" y="6417056"/>
                  </a:cubicBezTo>
                  <a:lnTo>
                    <a:pt x="10587609" y="6410706"/>
                  </a:lnTo>
                  <a:lnTo>
                    <a:pt x="10587609" y="6417056"/>
                  </a:lnTo>
                  <a:lnTo>
                    <a:pt x="56007" y="6417056"/>
                  </a:lnTo>
                  <a:lnTo>
                    <a:pt x="56007" y="6410706"/>
                  </a:lnTo>
                  <a:lnTo>
                    <a:pt x="56007" y="6417056"/>
                  </a:lnTo>
                  <a:cubicBezTo>
                    <a:pt x="25019" y="6417056"/>
                    <a:pt x="0" y="6392037"/>
                    <a:pt x="0" y="6361049"/>
                  </a:cubicBezTo>
                  <a:lnTo>
                    <a:pt x="0" y="56007"/>
                  </a:lnTo>
                  <a:lnTo>
                    <a:pt x="6350" y="56007"/>
                  </a:lnTo>
                  <a:lnTo>
                    <a:pt x="0" y="56007"/>
                  </a:lnTo>
                  <a:moveTo>
                    <a:pt x="12700" y="56007"/>
                  </a:moveTo>
                  <a:lnTo>
                    <a:pt x="12700" y="6361049"/>
                  </a:lnTo>
                  <a:lnTo>
                    <a:pt x="6350" y="6361049"/>
                  </a:lnTo>
                  <a:lnTo>
                    <a:pt x="12700" y="6361049"/>
                  </a:lnTo>
                  <a:cubicBezTo>
                    <a:pt x="12700" y="6384925"/>
                    <a:pt x="32131" y="6404356"/>
                    <a:pt x="56007" y="6404356"/>
                  </a:cubicBezTo>
                  <a:lnTo>
                    <a:pt x="10587609" y="6404356"/>
                  </a:lnTo>
                  <a:cubicBezTo>
                    <a:pt x="10611485" y="6404356"/>
                    <a:pt x="10630915" y="6384925"/>
                    <a:pt x="10630915" y="6361049"/>
                  </a:cubicBezTo>
                  <a:lnTo>
                    <a:pt x="10630915" y="56007"/>
                  </a:lnTo>
                  <a:cubicBezTo>
                    <a:pt x="10630915" y="32131"/>
                    <a:pt x="10611485" y="12700"/>
                    <a:pt x="10587609" y="12700"/>
                  </a:cubicBezTo>
                  <a:lnTo>
                    <a:pt x="56007" y="12700"/>
                  </a:lnTo>
                  <a:lnTo>
                    <a:pt x="56007" y="6350"/>
                  </a:lnTo>
                  <a:lnTo>
                    <a:pt x="56007" y="12700"/>
                  </a:lnTo>
                  <a:cubicBezTo>
                    <a:pt x="32131" y="12700"/>
                    <a:pt x="12700" y="32131"/>
                    <a:pt x="12700" y="56007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714462" y="4076252"/>
            <a:ext cx="2150116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Item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70003" y="4076252"/>
            <a:ext cx="2145354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Activa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020773" y="4076252"/>
            <a:ext cx="2150116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Ather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14462" y="4737344"/>
            <a:ext cx="2150116" cy="79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Petrol (₹94.77/L, 47 kmpl)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70003" y="4737344"/>
            <a:ext cx="2145354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₹7,360–₹36,799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020773" y="4737344"/>
            <a:ext cx="2150116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—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14462" y="5770512"/>
            <a:ext cx="2150116" cy="1163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Electricity (₹4.50/kWh, ~36 km/kWh)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70003" y="5770512"/>
            <a:ext cx="2145354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—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020773" y="5770512"/>
            <a:ext cx="2150116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₹456–₹2,281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14462" y="7175744"/>
            <a:ext cx="2150116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Annual Service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70003" y="7175744"/>
            <a:ext cx="2145354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₹3,500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020773" y="7175744"/>
            <a:ext cx="2150116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₹2,500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14462" y="7836846"/>
            <a:ext cx="2150116" cy="79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Insurance Renewal (Yr 2–5)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70003" y="7836846"/>
            <a:ext cx="2145354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₹3,500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020773" y="7836846"/>
            <a:ext cx="2150116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₹3,000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456096" y="8974341"/>
            <a:ext cx="7973168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Fuel saving at 30 km/day: </a:t>
            </a:r>
            <a:r>
              <a:rPr lang="en-US" sz="1937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₹20,710/year</a:t>
            </a: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 At 50 km/day: </a:t>
            </a:r>
            <a:r>
              <a:rPr lang="en-US" sz="1937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₹34,518/year</a:t>
            </a:r>
            <a:r>
              <a:rPr lang="en-US" sz="193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248302" y="1644853"/>
            <a:ext cx="953091" cy="249441"/>
            <a:chOff x="0" y="0"/>
            <a:chExt cx="1270787" cy="3325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0762" cy="332613"/>
            </a:xfrm>
            <a:custGeom>
              <a:avLst/>
              <a:gdLst/>
              <a:ahLst/>
              <a:cxnLst/>
              <a:rect r="r" b="b" t="t" l="l"/>
              <a:pathLst>
                <a:path h="332613" w="1270762">
                  <a:moveTo>
                    <a:pt x="0" y="29083"/>
                  </a:moveTo>
                  <a:cubicBezTo>
                    <a:pt x="0" y="12827"/>
                    <a:pt x="13462" y="0"/>
                    <a:pt x="29718" y="0"/>
                  </a:cubicBezTo>
                  <a:lnTo>
                    <a:pt x="1241044" y="0"/>
                  </a:lnTo>
                  <a:lnTo>
                    <a:pt x="1241044" y="6350"/>
                  </a:lnTo>
                  <a:lnTo>
                    <a:pt x="1241044" y="0"/>
                  </a:lnTo>
                  <a:cubicBezTo>
                    <a:pt x="1257300" y="0"/>
                    <a:pt x="1270762" y="12827"/>
                    <a:pt x="1270762" y="29083"/>
                  </a:cubicBezTo>
                  <a:lnTo>
                    <a:pt x="1264412" y="29083"/>
                  </a:lnTo>
                  <a:lnTo>
                    <a:pt x="1270762" y="29083"/>
                  </a:lnTo>
                  <a:lnTo>
                    <a:pt x="1270762" y="303530"/>
                  </a:lnTo>
                  <a:lnTo>
                    <a:pt x="1264412" y="303530"/>
                  </a:lnTo>
                  <a:lnTo>
                    <a:pt x="1270762" y="303530"/>
                  </a:lnTo>
                  <a:cubicBezTo>
                    <a:pt x="1270762" y="319786"/>
                    <a:pt x="1257300" y="332613"/>
                    <a:pt x="1241044" y="332613"/>
                  </a:cubicBezTo>
                  <a:lnTo>
                    <a:pt x="1241044" y="326263"/>
                  </a:lnTo>
                  <a:lnTo>
                    <a:pt x="1241044" y="332613"/>
                  </a:lnTo>
                  <a:lnTo>
                    <a:pt x="29718" y="332613"/>
                  </a:lnTo>
                  <a:lnTo>
                    <a:pt x="29718" y="326263"/>
                  </a:lnTo>
                  <a:lnTo>
                    <a:pt x="29718" y="332613"/>
                  </a:lnTo>
                  <a:cubicBezTo>
                    <a:pt x="13462" y="332613"/>
                    <a:pt x="0" y="319786"/>
                    <a:pt x="0" y="303530"/>
                  </a:cubicBezTo>
                  <a:lnTo>
                    <a:pt x="0" y="29083"/>
                  </a:lnTo>
                  <a:lnTo>
                    <a:pt x="6350" y="29083"/>
                  </a:lnTo>
                  <a:lnTo>
                    <a:pt x="0" y="29083"/>
                  </a:lnTo>
                  <a:moveTo>
                    <a:pt x="12700" y="29083"/>
                  </a:moveTo>
                  <a:lnTo>
                    <a:pt x="12700" y="303530"/>
                  </a:lnTo>
                  <a:lnTo>
                    <a:pt x="6350" y="303530"/>
                  </a:lnTo>
                  <a:lnTo>
                    <a:pt x="12700" y="303530"/>
                  </a:lnTo>
                  <a:cubicBezTo>
                    <a:pt x="12700" y="312420"/>
                    <a:pt x="20193" y="319913"/>
                    <a:pt x="29718" y="319913"/>
                  </a:cubicBezTo>
                  <a:lnTo>
                    <a:pt x="1241044" y="319913"/>
                  </a:lnTo>
                  <a:cubicBezTo>
                    <a:pt x="1250569" y="319913"/>
                    <a:pt x="1258062" y="312420"/>
                    <a:pt x="1258062" y="303530"/>
                  </a:cubicBezTo>
                  <a:lnTo>
                    <a:pt x="1258062" y="29083"/>
                  </a:lnTo>
                  <a:cubicBezTo>
                    <a:pt x="1258062" y="20193"/>
                    <a:pt x="1250569" y="12700"/>
                    <a:pt x="1241044" y="12700"/>
                  </a:cubicBezTo>
                  <a:lnTo>
                    <a:pt x="29718" y="12700"/>
                  </a:lnTo>
                  <a:lnTo>
                    <a:pt x="29718" y="6350"/>
                  </a:lnTo>
                  <a:lnTo>
                    <a:pt x="29718" y="12700"/>
                  </a:lnTo>
                  <a:cubicBezTo>
                    <a:pt x="20193" y="12700"/>
                    <a:pt x="12700" y="20193"/>
                    <a:pt x="12700" y="29083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347572" y="1701556"/>
            <a:ext cx="754561" cy="13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2"/>
              </a:lnSpc>
            </a:pPr>
            <a:r>
              <a:rPr lang="en-US" sz="875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TCO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53065" y="1889227"/>
            <a:ext cx="978188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At 30 km/day, the Ather 450X Saves ₹72,212 Over 5 Years — Becoming Cheaper From Year 2 Onward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248302" y="2905125"/>
            <a:ext cx="1048493" cy="215208"/>
            <a:chOff x="0" y="0"/>
            <a:chExt cx="1397991" cy="2869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1385189" cy="274320"/>
            </a:xfrm>
            <a:custGeom>
              <a:avLst/>
              <a:gdLst/>
              <a:ahLst/>
              <a:cxnLst/>
              <a:rect r="r" b="b" t="t" l="l"/>
              <a:pathLst>
                <a:path h="274320" w="1385189">
                  <a:moveTo>
                    <a:pt x="0" y="137160"/>
                  </a:moveTo>
                  <a:cubicBezTo>
                    <a:pt x="0" y="61341"/>
                    <a:pt x="63627" y="0"/>
                    <a:pt x="142113" y="0"/>
                  </a:cubicBezTo>
                  <a:lnTo>
                    <a:pt x="1243076" y="0"/>
                  </a:lnTo>
                  <a:cubicBezTo>
                    <a:pt x="1321562" y="0"/>
                    <a:pt x="1385189" y="61341"/>
                    <a:pt x="1385189" y="137160"/>
                  </a:cubicBezTo>
                  <a:cubicBezTo>
                    <a:pt x="1385189" y="212979"/>
                    <a:pt x="1321562" y="274320"/>
                    <a:pt x="1243076" y="274320"/>
                  </a:cubicBezTo>
                  <a:lnTo>
                    <a:pt x="142113" y="274320"/>
                  </a:lnTo>
                  <a:cubicBezTo>
                    <a:pt x="63627" y="274193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7889" cy="287020"/>
            </a:xfrm>
            <a:custGeom>
              <a:avLst/>
              <a:gdLst/>
              <a:ahLst/>
              <a:cxnLst/>
              <a:rect r="r" b="b" t="t" l="l"/>
              <a:pathLst>
                <a:path h="287020" w="1397889">
                  <a:moveTo>
                    <a:pt x="0" y="143510"/>
                  </a:moveTo>
                  <a:cubicBezTo>
                    <a:pt x="0" y="64008"/>
                    <a:pt x="66675" y="0"/>
                    <a:pt x="148463" y="0"/>
                  </a:cubicBezTo>
                  <a:lnTo>
                    <a:pt x="1249426" y="0"/>
                  </a:lnTo>
                  <a:lnTo>
                    <a:pt x="1249426" y="6350"/>
                  </a:lnTo>
                  <a:lnTo>
                    <a:pt x="1249426" y="0"/>
                  </a:lnTo>
                  <a:cubicBezTo>
                    <a:pt x="1331214" y="0"/>
                    <a:pt x="1397889" y="64008"/>
                    <a:pt x="1397889" y="143510"/>
                  </a:cubicBezTo>
                  <a:lnTo>
                    <a:pt x="1391539" y="143510"/>
                  </a:lnTo>
                  <a:lnTo>
                    <a:pt x="1397889" y="143510"/>
                  </a:lnTo>
                  <a:lnTo>
                    <a:pt x="1391539" y="143510"/>
                  </a:lnTo>
                  <a:lnTo>
                    <a:pt x="1397889" y="143510"/>
                  </a:lnTo>
                  <a:cubicBezTo>
                    <a:pt x="1397889" y="223012"/>
                    <a:pt x="1331214" y="287020"/>
                    <a:pt x="1249426" y="287020"/>
                  </a:cubicBezTo>
                  <a:lnTo>
                    <a:pt x="1249426" y="280670"/>
                  </a:lnTo>
                  <a:lnTo>
                    <a:pt x="1249426" y="287020"/>
                  </a:lnTo>
                  <a:lnTo>
                    <a:pt x="148463" y="287020"/>
                  </a:lnTo>
                  <a:lnTo>
                    <a:pt x="148463" y="280670"/>
                  </a:lnTo>
                  <a:lnTo>
                    <a:pt x="148463" y="287020"/>
                  </a:lnTo>
                  <a:cubicBezTo>
                    <a:pt x="66675" y="286893"/>
                    <a:pt x="0" y="222885"/>
                    <a:pt x="0" y="143510"/>
                  </a:cubicBezTo>
                  <a:lnTo>
                    <a:pt x="6350" y="143510"/>
                  </a:lnTo>
                  <a:lnTo>
                    <a:pt x="0" y="143510"/>
                  </a:lnTo>
                  <a:moveTo>
                    <a:pt x="12700" y="143510"/>
                  </a:moveTo>
                  <a:lnTo>
                    <a:pt x="6350" y="143510"/>
                  </a:lnTo>
                  <a:lnTo>
                    <a:pt x="12700" y="143510"/>
                  </a:lnTo>
                  <a:cubicBezTo>
                    <a:pt x="12700" y="215519"/>
                    <a:pt x="73279" y="274320"/>
                    <a:pt x="148463" y="274320"/>
                  </a:cubicBezTo>
                  <a:lnTo>
                    <a:pt x="1249426" y="274320"/>
                  </a:lnTo>
                  <a:cubicBezTo>
                    <a:pt x="1324610" y="274320"/>
                    <a:pt x="1385189" y="215519"/>
                    <a:pt x="1385189" y="143510"/>
                  </a:cubicBezTo>
                  <a:cubicBezTo>
                    <a:pt x="1385189" y="71501"/>
                    <a:pt x="1324737" y="12700"/>
                    <a:pt x="1249426" y="12700"/>
                  </a:cubicBezTo>
                  <a:lnTo>
                    <a:pt x="148463" y="12700"/>
                  </a:lnTo>
                  <a:lnTo>
                    <a:pt x="148463" y="6350"/>
                  </a:lnTo>
                  <a:lnTo>
                    <a:pt x="148463" y="12700"/>
                  </a:lnTo>
                  <a:cubicBezTo>
                    <a:pt x="73279" y="12700"/>
                    <a:pt x="12700" y="71501"/>
                    <a:pt x="12700" y="1435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319740" y="2955579"/>
            <a:ext cx="114300" cy="114300"/>
            <a:chOff x="0" y="0"/>
            <a:chExt cx="152400" cy="1524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472140" y="2909887"/>
            <a:ext cx="753218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4C4C4D"/>
                </a:solidFill>
                <a:latin typeface="Arimo"/>
                <a:ea typeface="Arimo"/>
                <a:cs typeface="Arimo"/>
                <a:sym typeface="Arimo"/>
              </a:rPr>
              <a:t>Ather 450X (₹)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363470" y="2905125"/>
            <a:ext cx="1346749" cy="215208"/>
            <a:chOff x="0" y="0"/>
            <a:chExt cx="1795666" cy="2869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1782953" cy="274320"/>
            </a:xfrm>
            <a:custGeom>
              <a:avLst/>
              <a:gdLst/>
              <a:ahLst/>
              <a:cxnLst/>
              <a:rect r="r" b="b" t="t" l="l"/>
              <a:pathLst>
                <a:path h="274320" w="1782953">
                  <a:moveTo>
                    <a:pt x="0" y="137160"/>
                  </a:moveTo>
                  <a:cubicBezTo>
                    <a:pt x="0" y="61341"/>
                    <a:pt x="63754" y="0"/>
                    <a:pt x="142494" y="0"/>
                  </a:cubicBezTo>
                  <a:lnTo>
                    <a:pt x="1640459" y="0"/>
                  </a:lnTo>
                  <a:cubicBezTo>
                    <a:pt x="1719072" y="0"/>
                    <a:pt x="1782953" y="61341"/>
                    <a:pt x="1782953" y="137160"/>
                  </a:cubicBezTo>
                  <a:cubicBezTo>
                    <a:pt x="1782953" y="212979"/>
                    <a:pt x="1719199" y="274320"/>
                    <a:pt x="1640459" y="274320"/>
                  </a:cubicBezTo>
                  <a:lnTo>
                    <a:pt x="142494" y="274320"/>
                  </a:lnTo>
                  <a:cubicBezTo>
                    <a:pt x="63754" y="274193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95653" cy="287020"/>
            </a:xfrm>
            <a:custGeom>
              <a:avLst/>
              <a:gdLst/>
              <a:ahLst/>
              <a:cxnLst/>
              <a:rect r="r" b="b" t="t" l="l"/>
              <a:pathLst>
                <a:path h="287020" w="1795653">
                  <a:moveTo>
                    <a:pt x="0" y="143510"/>
                  </a:moveTo>
                  <a:cubicBezTo>
                    <a:pt x="0" y="64008"/>
                    <a:pt x="66802" y="0"/>
                    <a:pt x="148844" y="0"/>
                  </a:cubicBezTo>
                  <a:lnTo>
                    <a:pt x="1646809" y="0"/>
                  </a:lnTo>
                  <a:lnTo>
                    <a:pt x="1646809" y="6350"/>
                  </a:lnTo>
                  <a:lnTo>
                    <a:pt x="1646809" y="0"/>
                  </a:lnTo>
                  <a:cubicBezTo>
                    <a:pt x="1728724" y="0"/>
                    <a:pt x="1795653" y="64008"/>
                    <a:pt x="1795653" y="143510"/>
                  </a:cubicBezTo>
                  <a:lnTo>
                    <a:pt x="1789303" y="143510"/>
                  </a:lnTo>
                  <a:lnTo>
                    <a:pt x="1795653" y="143510"/>
                  </a:lnTo>
                  <a:lnTo>
                    <a:pt x="1789303" y="143510"/>
                  </a:lnTo>
                  <a:lnTo>
                    <a:pt x="1795653" y="143510"/>
                  </a:lnTo>
                  <a:cubicBezTo>
                    <a:pt x="1795653" y="223012"/>
                    <a:pt x="1728851" y="287020"/>
                    <a:pt x="1646809" y="287020"/>
                  </a:cubicBezTo>
                  <a:lnTo>
                    <a:pt x="1646809" y="280670"/>
                  </a:lnTo>
                  <a:lnTo>
                    <a:pt x="1646809" y="287020"/>
                  </a:lnTo>
                  <a:lnTo>
                    <a:pt x="148844" y="287020"/>
                  </a:lnTo>
                  <a:lnTo>
                    <a:pt x="148844" y="280670"/>
                  </a:lnTo>
                  <a:lnTo>
                    <a:pt x="148844" y="287020"/>
                  </a:lnTo>
                  <a:cubicBezTo>
                    <a:pt x="66802" y="286893"/>
                    <a:pt x="0" y="222885"/>
                    <a:pt x="0" y="143510"/>
                  </a:cubicBezTo>
                  <a:lnTo>
                    <a:pt x="6350" y="143510"/>
                  </a:lnTo>
                  <a:lnTo>
                    <a:pt x="0" y="143510"/>
                  </a:lnTo>
                  <a:moveTo>
                    <a:pt x="12700" y="143510"/>
                  </a:moveTo>
                  <a:lnTo>
                    <a:pt x="6350" y="143510"/>
                  </a:lnTo>
                  <a:lnTo>
                    <a:pt x="12700" y="143510"/>
                  </a:lnTo>
                  <a:cubicBezTo>
                    <a:pt x="12700" y="215519"/>
                    <a:pt x="73406" y="274320"/>
                    <a:pt x="148844" y="274320"/>
                  </a:cubicBezTo>
                  <a:lnTo>
                    <a:pt x="1646809" y="274320"/>
                  </a:lnTo>
                  <a:cubicBezTo>
                    <a:pt x="1722247" y="274320"/>
                    <a:pt x="1782953" y="215519"/>
                    <a:pt x="1782953" y="143510"/>
                  </a:cubicBezTo>
                  <a:cubicBezTo>
                    <a:pt x="1782953" y="71501"/>
                    <a:pt x="1722247" y="12700"/>
                    <a:pt x="1646809" y="12700"/>
                  </a:cubicBezTo>
                  <a:lnTo>
                    <a:pt x="148844" y="12700"/>
                  </a:lnTo>
                  <a:lnTo>
                    <a:pt x="148844" y="6350"/>
                  </a:lnTo>
                  <a:lnTo>
                    <a:pt x="148844" y="12700"/>
                  </a:lnTo>
                  <a:cubicBezTo>
                    <a:pt x="73406" y="12700"/>
                    <a:pt x="12700" y="71501"/>
                    <a:pt x="12700" y="1435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434908" y="2955579"/>
            <a:ext cx="114300" cy="114300"/>
            <a:chOff x="0" y="0"/>
            <a:chExt cx="152400" cy="1524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587308" y="2909887"/>
            <a:ext cx="1051474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4C4C4D"/>
                </a:solidFill>
                <a:latin typeface="Arimo"/>
                <a:ea typeface="Arimo"/>
                <a:cs typeface="Arimo"/>
                <a:sym typeface="Arimo"/>
              </a:rPr>
              <a:t>Honda Activa 6G (₹)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253065" y="3210820"/>
            <a:ext cx="9781880" cy="4324198"/>
            <a:chOff x="0" y="0"/>
            <a:chExt cx="13042506" cy="5765597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3042519" cy="5765546"/>
            </a:xfrm>
            <a:custGeom>
              <a:avLst/>
              <a:gdLst/>
              <a:ahLst/>
              <a:cxnLst/>
              <a:rect r="r" b="b" t="t" l="l"/>
              <a:pathLst>
                <a:path h="5765546" w="13042519">
                  <a:moveTo>
                    <a:pt x="0" y="0"/>
                  </a:moveTo>
                  <a:lnTo>
                    <a:pt x="13042519" y="0"/>
                  </a:lnTo>
                  <a:lnTo>
                    <a:pt x="13042519" y="5765546"/>
                  </a:lnTo>
                  <a:lnTo>
                    <a:pt x="0" y="5765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4253065" y="8467277"/>
            <a:ext cx="9781880" cy="17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Crossing point: ~Year 2 (≈21,900 km). Annual fuel saving of ₹20,710 recovers the ₹38,341 premium in under 2 years. 5-year net EV saving: </a:t>
            </a:r>
            <a:r>
              <a:rPr lang="en-US" sz="1062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₹72,212</a:t>
            </a:r>
            <a:r>
              <a:rPr lang="en-US" sz="1062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842372"/>
            <a:ext cx="1271740" cy="561384"/>
            <a:chOff x="0" y="0"/>
            <a:chExt cx="1695653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95704" cy="748538"/>
            </a:xfrm>
            <a:custGeom>
              <a:avLst/>
              <a:gdLst/>
              <a:ahLst/>
              <a:cxnLst/>
              <a:rect r="r" b="b" t="t" l="l"/>
              <a:pathLst>
                <a:path h="748538" w="1695704">
                  <a:moveTo>
                    <a:pt x="0" y="51689"/>
                  </a:moveTo>
                  <a:cubicBezTo>
                    <a:pt x="0" y="23114"/>
                    <a:pt x="23368" y="0"/>
                    <a:pt x="52197" y="0"/>
                  </a:cubicBezTo>
                  <a:lnTo>
                    <a:pt x="1643507" y="0"/>
                  </a:lnTo>
                  <a:lnTo>
                    <a:pt x="1643507" y="6350"/>
                  </a:lnTo>
                  <a:lnTo>
                    <a:pt x="1643507" y="0"/>
                  </a:lnTo>
                  <a:cubicBezTo>
                    <a:pt x="1672209" y="0"/>
                    <a:pt x="1695704" y="23114"/>
                    <a:pt x="1695704" y="51689"/>
                  </a:cubicBezTo>
                  <a:lnTo>
                    <a:pt x="1689354" y="51689"/>
                  </a:lnTo>
                  <a:lnTo>
                    <a:pt x="1695704" y="51689"/>
                  </a:lnTo>
                  <a:lnTo>
                    <a:pt x="1695704" y="696849"/>
                  </a:lnTo>
                  <a:lnTo>
                    <a:pt x="1689354" y="696849"/>
                  </a:lnTo>
                  <a:lnTo>
                    <a:pt x="1695704" y="696849"/>
                  </a:lnTo>
                  <a:cubicBezTo>
                    <a:pt x="1695704" y="725424"/>
                    <a:pt x="1672336" y="748538"/>
                    <a:pt x="1643507" y="748538"/>
                  </a:cubicBezTo>
                  <a:lnTo>
                    <a:pt x="1643507" y="742188"/>
                  </a:lnTo>
                  <a:lnTo>
                    <a:pt x="1643507" y="748538"/>
                  </a:lnTo>
                  <a:lnTo>
                    <a:pt x="52197" y="748538"/>
                  </a:lnTo>
                  <a:lnTo>
                    <a:pt x="52197" y="742188"/>
                  </a:lnTo>
                  <a:lnTo>
                    <a:pt x="52197" y="748538"/>
                  </a:lnTo>
                  <a:cubicBezTo>
                    <a:pt x="23368" y="748538"/>
                    <a:pt x="0" y="725424"/>
                    <a:pt x="0" y="696849"/>
                  </a:cubicBezTo>
                  <a:lnTo>
                    <a:pt x="0" y="51689"/>
                  </a:lnTo>
                  <a:lnTo>
                    <a:pt x="6350" y="51689"/>
                  </a:lnTo>
                  <a:lnTo>
                    <a:pt x="0" y="51689"/>
                  </a:lnTo>
                  <a:moveTo>
                    <a:pt x="12700" y="51689"/>
                  </a:moveTo>
                  <a:lnTo>
                    <a:pt x="12700" y="696849"/>
                  </a:lnTo>
                  <a:lnTo>
                    <a:pt x="6350" y="696849"/>
                  </a:lnTo>
                  <a:lnTo>
                    <a:pt x="12700" y="696849"/>
                  </a:lnTo>
                  <a:cubicBezTo>
                    <a:pt x="12700" y="718312"/>
                    <a:pt x="30353" y="735838"/>
                    <a:pt x="52197" y="735838"/>
                  </a:cubicBezTo>
                  <a:lnTo>
                    <a:pt x="1643507" y="735838"/>
                  </a:lnTo>
                  <a:cubicBezTo>
                    <a:pt x="1665351" y="735838"/>
                    <a:pt x="1683004" y="718312"/>
                    <a:pt x="1683004" y="696849"/>
                  </a:cubicBezTo>
                  <a:lnTo>
                    <a:pt x="1683004" y="51689"/>
                  </a:lnTo>
                  <a:cubicBezTo>
                    <a:pt x="1683004" y="30226"/>
                    <a:pt x="1665351" y="12700"/>
                    <a:pt x="1643507" y="12700"/>
                  </a:cubicBezTo>
                  <a:lnTo>
                    <a:pt x="52197" y="12700"/>
                  </a:lnTo>
                  <a:lnTo>
                    <a:pt x="52197" y="6350"/>
                  </a:lnTo>
                  <a:lnTo>
                    <a:pt x="52197" y="12700"/>
                  </a:lnTo>
                  <a:cubicBezTo>
                    <a:pt x="30353" y="12700"/>
                    <a:pt x="12700" y="30226"/>
                    <a:pt x="12700" y="51689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874957"/>
            <a:ext cx="902941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VERDICT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464764"/>
            <a:ext cx="16303523" cy="181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EV Financial Advantage Scales Directly With Daily Usage — Heavy Commuters Save ₹1,41,248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7476" y="3704777"/>
            <a:ext cx="16313048" cy="3762375"/>
            <a:chOff x="0" y="0"/>
            <a:chExt cx="21750731" cy="5016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50655" cy="5016500"/>
            </a:xfrm>
            <a:custGeom>
              <a:avLst/>
              <a:gdLst/>
              <a:ahLst/>
              <a:cxnLst/>
              <a:rect r="r" b="b" t="t" l="l"/>
              <a:pathLst>
                <a:path h="5016500" w="21750655">
                  <a:moveTo>
                    <a:pt x="0" y="62992"/>
                  </a:moveTo>
                  <a:cubicBezTo>
                    <a:pt x="0" y="28194"/>
                    <a:pt x="28321" y="0"/>
                    <a:pt x="63119" y="0"/>
                  </a:cubicBezTo>
                  <a:lnTo>
                    <a:pt x="21687537" y="0"/>
                  </a:lnTo>
                  <a:lnTo>
                    <a:pt x="21687537" y="6350"/>
                  </a:lnTo>
                  <a:lnTo>
                    <a:pt x="21687537" y="0"/>
                  </a:lnTo>
                  <a:cubicBezTo>
                    <a:pt x="21722462" y="0"/>
                    <a:pt x="21750655" y="28194"/>
                    <a:pt x="21750655" y="62992"/>
                  </a:cubicBezTo>
                  <a:lnTo>
                    <a:pt x="21744305" y="62992"/>
                  </a:lnTo>
                  <a:lnTo>
                    <a:pt x="21750655" y="62992"/>
                  </a:lnTo>
                  <a:lnTo>
                    <a:pt x="21750655" y="4953508"/>
                  </a:lnTo>
                  <a:lnTo>
                    <a:pt x="21744305" y="4953508"/>
                  </a:lnTo>
                  <a:lnTo>
                    <a:pt x="21750655" y="4953508"/>
                  </a:lnTo>
                  <a:cubicBezTo>
                    <a:pt x="21750655" y="4988306"/>
                    <a:pt x="21722335" y="5016500"/>
                    <a:pt x="21687537" y="5016500"/>
                  </a:cubicBezTo>
                  <a:lnTo>
                    <a:pt x="21687537" y="5010150"/>
                  </a:lnTo>
                  <a:lnTo>
                    <a:pt x="21687537" y="5016500"/>
                  </a:lnTo>
                  <a:lnTo>
                    <a:pt x="63119" y="5016500"/>
                  </a:lnTo>
                  <a:lnTo>
                    <a:pt x="63119" y="5010150"/>
                  </a:lnTo>
                  <a:lnTo>
                    <a:pt x="63119" y="5016500"/>
                  </a:lnTo>
                  <a:cubicBezTo>
                    <a:pt x="28321" y="5016500"/>
                    <a:pt x="0" y="4988306"/>
                    <a:pt x="0" y="4953508"/>
                  </a:cubicBezTo>
                  <a:lnTo>
                    <a:pt x="0" y="62992"/>
                  </a:lnTo>
                  <a:lnTo>
                    <a:pt x="6350" y="62992"/>
                  </a:lnTo>
                  <a:lnTo>
                    <a:pt x="0" y="62992"/>
                  </a:lnTo>
                  <a:moveTo>
                    <a:pt x="12700" y="62992"/>
                  </a:moveTo>
                  <a:lnTo>
                    <a:pt x="12700" y="4953508"/>
                  </a:lnTo>
                  <a:lnTo>
                    <a:pt x="6350" y="4953508"/>
                  </a:lnTo>
                  <a:lnTo>
                    <a:pt x="12700" y="4953508"/>
                  </a:lnTo>
                  <a:cubicBezTo>
                    <a:pt x="12700" y="4981194"/>
                    <a:pt x="35306" y="5003800"/>
                    <a:pt x="63119" y="5003800"/>
                  </a:cubicBezTo>
                  <a:lnTo>
                    <a:pt x="21687537" y="5003800"/>
                  </a:lnTo>
                  <a:cubicBezTo>
                    <a:pt x="21715476" y="5003800"/>
                    <a:pt x="21737955" y="4981194"/>
                    <a:pt x="21737955" y="4953508"/>
                  </a:cubicBezTo>
                  <a:lnTo>
                    <a:pt x="21737955" y="62992"/>
                  </a:lnTo>
                  <a:cubicBezTo>
                    <a:pt x="21737955" y="35179"/>
                    <a:pt x="21715350" y="12700"/>
                    <a:pt x="21687537" y="12700"/>
                  </a:cubicBezTo>
                  <a:lnTo>
                    <a:pt x="63119" y="12700"/>
                  </a:lnTo>
                  <a:lnTo>
                    <a:pt x="63119" y="6350"/>
                  </a:lnTo>
                  <a:lnTo>
                    <a:pt x="63119" y="12700"/>
                  </a:lnTo>
                  <a:cubicBezTo>
                    <a:pt x="35306" y="12700"/>
                    <a:pt x="12700" y="35306"/>
                    <a:pt x="12700" y="62992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6027" y="3812972"/>
            <a:ext cx="301064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Profile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73228" y="3812972"/>
            <a:ext cx="202882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5-Yr Activa TCO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78611" y="3812972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5-Yr Ather TCO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84003" y="3812972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EV Net Saving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89386" y="3812972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Break-Even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294769" y="3812972"/>
            <a:ext cx="170794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Verdict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6027" y="5089027"/>
            <a:ext cx="301064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Light (10 km/day)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73228" y="5089027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₹1,57,824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78611" y="5089027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₹1,54,647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84003" y="5089027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+₹3,177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89386" y="5089027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~Year 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94769" y="5089027"/>
            <a:ext cx="170794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Marginal Win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6027" y="5911453"/>
            <a:ext cx="301064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Average (30 km/day)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873228" y="5911453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₹2,31,422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78611" y="5911453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₹1,59,210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84003" y="5911453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+₹72,212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89386" y="5911453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~Year 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294769" y="5911453"/>
            <a:ext cx="170794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EV Wins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6027" y="6733880"/>
            <a:ext cx="301064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Heavy (50 km/day)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873228" y="6733880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₹3,05,020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78611" y="6733880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₹1,63,772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84003" y="6733880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+₹1,41,248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89386" y="6733880"/>
            <a:ext cx="202882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~Year 1.5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294769" y="6733880"/>
            <a:ext cx="1707947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Clearly Wins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92238" y="7781334"/>
            <a:ext cx="16303523" cy="1658388"/>
            <a:chOff x="0" y="0"/>
            <a:chExt cx="21738031" cy="22111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738081" cy="2211197"/>
            </a:xfrm>
            <a:custGeom>
              <a:avLst/>
              <a:gdLst/>
              <a:ahLst/>
              <a:cxnLst/>
              <a:rect r="r" b="b" t="t" l="l"/>
              <a:pathLst>
                <a:path h="2211197" w="21738081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681312" y="0"/>
                  </a:lnTo>
                  <a:cubicBezTo>
                    <a:pt x="21712681" y="0"/>
                    <a:pt x="21738081" y="25400"/>
                    <a:pt x="21738081" y="56769"/>
                  </a:cubicBezTo>
                  <a:lnTo>
                    <a:pt x="21738081" y="2154428"/>
                  </a:lnTo>
                  <a:cubicBezTo>
                    <a:pt x="21738081" y="2185797"/>
                    <a:pt x="21712681" y="2211197"/>
                    <a:pt x="21681312" y="2211197"/>
                  </a:cubicBezTo>
                  <a:lnTo>
                    <a:pt x="56769" y="2211197"/>
                  </a:lnTo>
                  <a:cubicBezTo>
                    <a:pt x="25400" y="2211197"/>
                    <a:pt x="0" y="2185797"/>
                    <a:pt x="0" y="2154428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75759" y="8192395"/>
            <a:ext cx="354359" cy="283521"/>
            <a:chOff x="0" y="0"/>
            <a:chExt cx="472478" cy="378028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1" r="-8" b="-655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913630" y="8049968"/>
            <a:ext cx="1509861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Tipping Point:</a:t>
            </a:r>
            <a:r>
              <a:rPr lang="en-US" sz="2187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~30 km/day (≈10,950 km/year). Below ~15 km/day, break-even stretches beyond 5 years and the financial case weakens.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1466107"/>
            <a:ext cx="2604497" cy="561384"/>
            <a:chOff x="0" y="0"/>
            <a:chExt cx="3472663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2688" cy="748538"/>
            </a:xfrm>
            <a:custGeom>
              <a:avLst/>
              <a:gdLst/>
              <a:ahLst/>
              <a:cxnLst/>
              <a:rect r="r" b="b" t="t" l="l"/>
              <a:pathLst>
                <a:path h="748538" w="3472688">
                  <a:moveTo>
                    <a:pt x="0" y="51689"/>
                  </a:moveTo>
                  <a:cubicBezTo>
                    <a:pt x="0" y="23114"/>
                    <a:pt x="23495" y="0"/>
                    <a:pt x="52324" y="0"/>
                  </a:cubicBezTo>
                  <a:lnTo>
                    <a:pt x="3420364" y="0"/>
                  </a:lnTo>
                  <a:lnTo>
                    <a:pt x="3420364" y="6350"/>
                  </a:lnTo>
                  <a:lnTo>
                    <a:pt x="3420364" y="0"/>
                  </a:lnTo>
                  <a:cubicBezTo>
                    <a:pt x="3449193" y="0"/>
                    <a:pt x="3472688" y="23114"/>
                    <a:pt x="3472688" y="51689"/>
                  </a:cubicBezTo>
                  <a:lnTo>
                    <a:pt x="3466338" y="51689"/>
                  </a:lnTo>
                  <a:lnTo>
                    <a:pt x="3472688" y="51689"/>
                  </a:lnTo>
                  <a:lnTo>
                    <a:pt x="3472688" y="696849"/>
                  </a:lnTo>
                  <a:lnTo>
                    <a:pt x="3466338" y="696849"/>
                  </a:lnTo>
                  <a:lnTo>
                    <a:pt x="3472688" y="696849"/>
                  </a:lnTo>
                  <a:cubicBezTo>
                    <a:pt x="3472688" y="725551"/>
                    <a:pt x="3449193" y="748538"/>
                    <a:pt x="3420364" y="748538"/>
                  </a:cubicBezTo>
                  <a:lnTo>
                    <a:pt x="3420364" y="742188"/>
                  </a:lnTo>
                  <a:lnTo>
                    <a:pt x="3420364" y="748538"/>
                  </a:lnTo>
                  <a:lnTo>
                    <a:pt x="52324" y="748538"/>
                  </a:lnTo>
                  <a:lnTo>
                    <a:pt x="52324" y="742188"/>
                  </a:lnTo>
                  <a:lnTo>
                    <a:pt x="52324" y="748538"/>
                  </a:lnTo>
                  <a:cubicBezTo>
                    <a:pt x="23495" y="748538"/>
                    <a:pt x="0" y="725424"/>
                    <a:pt x="0" y="696849"/>
                  </a:cubicBezTo>
                  <a:lnTo>
                    <a:pt x="0" y="51689"/>
                  </a:lnTo>
                  <a:lnTo>
                    <a:pt x="6350" y="51689"/>
                  </a:lnTo>
                  <a:lnTo>
                    <a:pt x="0" y="51689"/>
                  </a:lnTo>
                  <a:moveTo>
                    <a:pt x="12700" y="51689"/>
                  </a:moveTo>
                  <a:lnTo>
                    <a:pt x="12700" y="696849"/>
                  </a:lnTo>
                  <a:lnTo>
                    <a:pt x="6350" y="696849"/>
                  </a:lnTo>
                  <a:lnTo>
                    <a:pt x="12700" y="696849"/>
                  </a:lnTo>
                  <a:cubicBezTo>
                    <a:pt x="12700" y="718312"/>
                    <a:pt x="30353" y="735838"/>
                    <a:pt x="52324" y="735838"/>
                  </a:cubicBezTo>
                  <a:lnTo>
                    <a:pt x="3420364" y="735838"/>
                  </a:lnTo>
                  <a:cubicBezTo>
                    <a:pt x="3442335" y="735838"/>
                    <a:pt x="3459988" y="718312"/>
                    <a:pt x="3459988" y="696849"/>
                  </a:cubicBezTo>
                  <a:lnTo>
                    <a:pt x="3459988" y="51689"/>
                  </a:lnTo>
                  <a:cubicBezTo>
                    <a:pt x="3459988" y="30226"/>
                    <a:pt x="3442335" y="12700"/>
                    <a:pt x="3420364" y="12700"/>
                  </a:cubicBezTo>
                  <a:lnTo>
                    <a:pt x="52324" y="12700"/>
                  </a:lnTo>
                  <a:lnTo>
                    <a:pt x="52324" y="6350"/>
                  </a:lnTo>
                  <a:lnTo>
                    <a:pt x="52324" y="12700"/>
                  </a:lnTo>
                  <a:cubicBezTo>
                    <a:pt x="30353" y="12700"/>
                    <a:pt x="12700" y="30226"/>
                    <a:pt x="12700" y="51689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1498702"/>
            <a:ext cx="2235698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STRATEGIC OUTLOOK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088509"/>
            <a:ext cx="16303523" cy="181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Key Risks and Policy Implications That Could Shift the TCO Equation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8041" y="4333284"/>
            <a:ext cx="8214274" cy="4482703"/>
            <a:chOff x="0" y="0"/>
            <a:chExt cx="10952366" cy="59769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52352" cy="5977001"/>
            </a:xfrm>
            <a:custGeom>
              <a:avLst/>
              <a:gdLst/>
              <a:ahLst/>
              <a:cxnLst/>
              <a:rect r="r" b="b" t="t" l="l"/>
              <a:pathLst>
                <a:path h="5977001" w="1095235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895584" y="0"/>
                  </a:lnTo>
                  <a:cubicBezTo>
                    <a:pt x="10926952" y="0"/>
                    <a:pt x="10952352" y="25400"/>
                    <a:pt x="10952352" y="56769"/>
                  </a:cubicBezTo>
                  <a:lnTo>
                    <a:pt x="10952352" y="5920232"/>
                  </a:lnTo>
                  <a:cubicBezTo>
                    <a:pt x="10952352" y="5951601"/>
                    <a:pt x="10926952" y="5977001"/>
                    <a:pt x="10895584" y="5977001"/>
                  </a:cubicBezTo>
                  <a:lnTo>
                    <a:pt x="56769" y="5977001"/>
                  </a:lnTo>
                  <a:cubicBezTo>
                    <a:pt x="25400" y="5977001"/>
                    <a:pt x="0" y="5951601"/>
                    <a:pt x="0" y="5920232"/>
                  </a:cubicBezTo>
                  <a:close/>
                </a:path>
              </a:pathLst>
            </a:custGeom>
            <a:solidFill>
              <a:srgbClr val="2150F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1562" y="4588221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EV Risks Not Modelled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1562" y="5257505"/>
            <a:ext cx="7647232" cy="345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Battery replacement:</a:t>
            </a:r>
            <a:r>
              <a:rPr lang="en-US" sz="2187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 ₹49,000–₹84,500 post-warranty (3 yr / 30,000 km); heavy commuters may exceed this within 5 years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Home charger:</a:t>
            </a:r>
            <a:r>
              <a:rPr lang="en-US" sz="2187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 ₹4,500–₹6,000 not included in model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Petrol price volatility:</a:t>
            </a:r>
            <a:r>
              <a:rPr lang="en-US" sz="2187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 +10% price rise shortens 30 km/day break-even by 3–4 months, adding ~₹11,000 to EV savings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397" y="4588221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ICE Depreciation Risk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9397" y="5257505"/>
            <a:ext cx="7805890" cy="345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Delhi's 2028 ICE ban creates </a:t>
            </a:r>
            <a:r>
              <a:rPr lang="en-US" b="true" sz="2187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structural resale value risk</a:t>
            </a: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for petrol scooters purchased in 2026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Combined ₹32,848 subsidy insufficient to flip economics for light commuters — further subsidy enhancement or price reduction needed for mass adoption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Financing / EMI cost differentials not modelled; would affect year-by-year cash outflows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49516"/>
            <a:ext cx="1733255" cy="532809"/>
            <a:chOff x="0" y="0"/>
            <a:chExt cx="2311006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1019" cy="710438"/>
            </a:xfrm>
            <a:custGeom>
              <a:avLst/>
              <a:gdLst/>
              <a:ahLst/>
              <a:cxnLst/>
              <a:rect r="r" b="b" t="t" l="l"/>
              <a:pathLst>
                <a:path h="710438" w="2311019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265680" y="0"/>
                  </a:lnTo>
                  <a:cubicBezTo>
                    <a:pt x="2290699" y="0"/>
                    <a:pt x="2311019" y="20320"/>
                    <a:pt x="2311019" y="45339"/>
                  </a:cubicBezTo>
                  <a:lnTo>
                    <a:pt x="2311019" y="665099"/>
                  </a:lnTo>
                  <a:cubicBezTo>
                    <a:pt x="2311019" y="690118"/>
                    <a:pt x="2290699" y="710438"/>
                    <a:pt x="2265680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867813"/>
            <a:ext cx="1393031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448095"/>
            <a:ext cx="16303523" cy="270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52D4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For Any Delhi Commuter Riding 30 km or More Daily, the Ather 450X Is Already the Financially Superior Choice in 2026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4578848"/>
            <a:ext cx="5245446" cy="2994574"/>
            <a:chOff x="0" y="0"/>
            <a:chExt cx="6993928" cy="39927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93890" cy="3992753"/>
            </a:xfrm>
            <a:custGeom>
              <a:avLst/>
              <a:gdLst/>
              <a:ahLst/>
              <a:cxnLst/>
              <a:rect r="r" b="b" t="t" l="l"/>
              <a:pathLst>
                <a:path h="3992753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3936111"/>
                  </a:lnTo>
                  <a:cubicBezTo>
                    <a:pt x="6993890" y="3967480"/>
                    <a:pt x="6968490" y="3992753"/>
                    <a:pt x="6937248" y="3992753"/>
                  </a:cubicBezTo>
                  <a:lnTo>
                    <a:pt x="56642" y="3992753"/>
                  </a:lnTo>
                  <a:cubicBezTo>
                    <a:pt x="25273" y="3992753"/>
                    <a:pt x="0" y="3967353"/>
                    <a:pt x="0" y="393611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75759" y="4833785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TCO Over Sticker Price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759" y="5389664"/>
            <a:ext cx="467841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EV transition economics depend on total cost of ownership, not upfront price. The ₹38,341 premium is fully recoverable.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1206" y="4578848"/>
            <a:ext cx="5245446" cy="2994574"/>
            <a:chOff x="0" y="0"/>
            <a:chExt cx="6993928" cy="39927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93890" cy="3992753"/>
            </a:xfrm>
            <a:custGeom>
              <a:avLst/>
              <a:gdLst/>
              <a:ahLst/>
              <a:cxnLst/>
              <a:rect r="r" b="b" t="t" l="l"/>
              <a:pathLst>
                <a:path h="3992753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3936111"/>
                  </a:lnTo>
                  <a:cubicBezTo>
                    <a:pt x="6993890" y="3967480"/>
                    <a:pt x="6968490" y="3992753"/>
                    <a:pt x="6937248" y="3992753"/>
                  </a:cubicBezTo>
                  <a:lnTo>
                    <a:pt x="56642" y="3992753"/>
                  </a:lnTo>
                  <a:cubicBezTo>
                    <a:pt x="25273" y="3992753"/>
                    <a:pt x="0" y="3967353"/>
                    <a:pt x="0" y="393611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804717" y="4833785"/>
            <a:ext cx="4414838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Usage Is the Deciding Variable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04717" y="5389664"/>
            <a:ext cx="467841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30 km/day is the tipping point. Every additional kilometre strengthens the EV case further.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0163" y="4578848"/>
            <a:ext cx="5245446" cy="2994574"/>
            <a:chOff x="0" y="0"/>
            <a:chExt cx="6993928" cy="39927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3992753"/>
            </a:xfrm>
            <a:custGeom>
              <a:avLst/>
              <a:gdLst/>
              <a:ahLst/>
              <a:cxnLst/>
              <a:rect r="r" b="b" t="t" l="l"/>
              <a:pathLst>
                <a:path h="3992753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3936111"/>
                  </a:lnTo>
                  <a:cubicBezTo>
                    <a:pt x="6993890" y="3967480"/>
                    <a:pt x="6968490" y="3992753"/>
                    <a:pt x="6937248" y="3992753"/>
                  </a:cubicBezTo>
                  <a:lnTo>
                    <a:pt x="56642" y="3992753"/>
                  </a:lnTo>
                  <a:cubicBezTo>
                    <a:pt x="25273" y="3992753"/>
                    <a:pt x="0" y="3967353"/>
                    <a:pt x="0" y="393611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33684" y="4833785"/>
            <a:ext cx="454357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C4C4D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Policy Accelerates the Timeline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33684" y="5389664"/>
            <a:ext cx="467841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Delhi's 2028 mandate eliminates the ICE option entirely — petrol scooters carry accelerating residual-value risk.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7434" y="8125568"/>
            <a:ext cx="1587832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EV transition for Delhi's two-wheeler market is not a matter of </a:t>
            </a:r>
            <a:r>
              <a:rPr lang="en-US" sz="2187" i="tru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if</a:t>
            </a: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but of </a:t>
            </a:r>
            <a:r>
              <a:rPr lang="en-US" sz="2187" i="tru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when</a:t>
            </a:r>
            <a:r>
              <a:rPr lang="en-US" sz="2187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each individual commuter crosses their personal break-even threshold.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7892358"/>
            <a:ext cx="38100" cy="1545136"/>
            <a:chOff x="0" y="0"/>
            <a:chExt cx="50800" cy="20601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800" cy="2060194"/>
            </a:xfrm>
            <a:custGeom>
              <a:avLst/>
              <a:gdLst/>
              <a:ahLst/>
              <a:cxnLst/>
              <a:rect r="r" b="b" t="t" l="l"/>
              <a:pathLst>
                <a:path h="2060194" w="50800">
                  <a:moveTo>
                    <a:pt x="0" y="0"/>
                  </a:moveTo>
                  <a:lnTo>
                    <a:pt x="50800" y="0"/>
                  </a:lnTo>
                  <a:lnTo>
                    <a:pt x="50800" y="2060194"/>
                  </a:lnTo>
                  <a:lnTo>
                    <a:pt x="0" y="2060194"/>
                  </a:lnTo>
                  <a:close/>
                </a:path>
              </a:pathLst>
            </a:custGeom>
            <a:solidFill>
              <a:srgbClr val="2150FE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DAHHjcJyvzs</dc:identifier>
  <dcterms:modified xsi:type="dcterms:W3CDTF">2011-08-01T06:04:30Z</dcterms:modified>
  <cp:revision>1</cp:revision>
  <dc:title>The-Economics-of-the-Electric-Transition-A-5-Year-TCO-Analysis-for-Delhi-2026.pptx</dc:title>
</cp:coreProperties>
</file>